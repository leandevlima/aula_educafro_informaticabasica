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03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128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erson Dias de Lima" userId="c3d270394ed61691" providerId="LiveId" clId="{A1D0A1D2-1CB3-4C02-BBF2-B6987175248D}"/>
    <pc:docChg chg="modSld">
      <pc:chgData name="Leanderson Dias de Lima" userId="c3d270394ed61691" providerId="LiveId" clId="{A1D0A1D2-1CB3-4C02-BBF2-B6987175248D}" dt="2026-08-14T23:55:23.224" v="0" actId="1076"/>
      <pc:docMkLst>
        <pc:docMk/>
      </pc:docMkLst>
      <pc:sldChg chg="modSp mod">
        <pc:chgData name="Leanderson Dias de Lima" userId="c3d270394ed61691" providerId="LiveId" clId="{A1D0A1D2-1CB3-4C02-BBF2-B6987175248D}" dt="2026-08-14T23:55:23.224" v="0" actId="1076"/>
        <pc:sldMkLst>
          <pc:docMk/>
          <pc:sldMk cId="0" sldId="286"/>
        </pc:sldMkLst>
        <pc:picChg chg="mod">
          <ac:chgData name="Leanderson Dias de Lima" userId="c3d270394ed61691" providerId="LiveId" clId="{A1D0A1D2-1CB3-4C02-BBF2-B6987175248D}" dt="2026-08-14T23:55:23.224" v="0" actId="1076"/>
          <ac:picMkLst>
            <pc:docMk/>
            <pc:sldMk cId="0" sldId="286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33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Receba as pessoas de pé, na porta, cumprimentando cada uma pelo nome. Diga: "Bem-vindo! Aqui você não precisa saber nada de computador — é exatamente para isso que a gente está aqui." Peça que ainda não liguem nada. Preencha na capa seu nome, a instituição e 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roda de apresentação, no máximo 20 segundos por pessoa. Anote no quadro branco os desejos citados ("falar com o neto", "ver receitas", "mexer no banco"). Volte a esses desejos durante o curso: "Lembra que a dona Maria queria ver receitas? É isso que vamos fazer agora."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importante do dia. Leia a frase em voz alta e peça que a turma repita junto. Explique: "O computador não é de vidro. Nenhum clique que vocês derem hoje vai estragar nada. Se der errado, a gente conserta em 10 segundos." Volte a esta frase toda vez que alguém travar com medo.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dia é curto e organizado. Destaque a pausa: "Vamos parar para o café, ninguém vai ficar cansado." Diga que não precisam anotar nada, porque está tudo na cartilha impressa.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Antecipe o que mais desperta interesse: "No segundo turno, cada um sai daqui com um e-mail próprio, funcionando." Isso motiva a turma a voltar no segundo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item por item apontando na tela. Diga: "Isso não é promessa bonita, é o que a gente vai fazer hoje, com a mão na massa." Evite falar em "objetivos de aprendizagem" — use "o que você vai saber fazer".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motivo do "não corra na frente": quem adianta se perde e atrapalha o ritmo da turma. Combine um sinal simples para pedir ajuda — mão levantada ou um copo colorido em pé sobre o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Entregue a cartilha agora. Mostre onde fica o índice e peça que escrevam o nome na capa. Avise que haverá um espaço para anotar o e-mail e a senha no segundo turno.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Marque a virada de assunto. Diga: "Agora vamos conhecer a máquina por fora, antes de ligar. Ninguém liga nada ainda."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Aponte cada peça na sua bancada, de verdade, não só na tela. Peça que cada aluno toque na própria peça enquanto você nomeia: "Ponha a mão no monitor. Agora no teclado." O toque físico reduz o medo.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a analogia do gabinete: "É onde ficam guardadas as suas coisas. Se você desligar da tomada, nada se perde — igual à geladeira desligada, a comida continua lá dentro."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símbolo universal de energia e diga que ele é sempre o mesmo, em qualquer aparelho da casa. Explique que muita gente pensa que o computador está desligado quando é só a tela que está apagada.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Avise antes: "Vai demorar até 1 minuto e isso é normal." Apertar o botão de novo por impaciência é o erro clássico. Ligue o seu primeiro, projetado, e só depois libere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 pela sala. NÃO ligue pelo aluno: guie a mão dele até o botão. Elogie cada acerto em voz alta — "Olha o seu Antônio, já ligou!". O reforço público anima a turma inteira.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a senha do laboratório no quadro branco em letra bem grande. Muitos alunos se assustam por não ver as letras que digitam — explique que as bolinhas existem para ninguém ler a senha por cima do ombro.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Segure um mouse na mão e mostre para a turma. Diga a regra que resolve 90% das dúvidas: "Na dúvida, use o botão da esquerda." Repita essa frase várias vezes ao longo do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de maior dificuldade física do curso. Peça permissão e coloque sua mão sobre a do aluno para mostrar a leveza do clique. Muitos apertam com força e movem o braço inteiro — mostre que o movimento vem do pulso. Se acabar o espaço na mesa, levante e traga o mouse de volta ao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cada movimento no projetor, bem devagar, dizendo em voz alta o que está fazendo. Repita o gesto três vezes antes de liberar a prática. Deixe claro que os dois cliques precisam ser rápidos e sem mexer o mouse.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de calibração, sem clique nenhum — só movimento. Isso tira a ansiedade. Comente que a setinha muda de formato conforme o lugar (vira mãozinha, vira barrinha) e que isso é totalmente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erro mais comum é soltar o botão no meio do caminho. Diga: "Segure firme, como quem segura a mão de uma criança para atravessar a rua." Se o ícone voltar sozinho para o lugar, explique que é o arranjo automático da tela e não erro do aluno.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Ensine a bater os dois cliques sem mover o mouse — mexer entre um clique e outro é o motivo mais comum da falha. Se um aluno não conseguir de jeito nenhum, ative o clique único nas configurações ou ensine a alternativa: clicar uma vez e apertar 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rolar 10 a 15 minutos. Este é o momento em que o medo cai. Não corrija as regras do jogo — o objetivo é o gesto, não vencer. Circule elogiando. Use Mahjong ou um quebra-cabeça se o Paciência não estiver instalado.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Muita gente se assusta quando o menu aparece "do nada". Mostre que ele some sozinho e que não estragou nada. Faça abrir e fechar três vezes junto com a turma. Este gesto será usado no Módulo 3 para criar pastas.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Espere em silêncio pelo menos 10 segundos — adultos demoram a perguntar. Se ninguém falar, faça você a pergunta: "Quem ainda está achando o mouse meio teimoso?" Isso autoriza a turma a admitir dificuldade.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Transição: "Agora que a mão já obedece ao mouse, vamos entender o que é essa tela que está na sua frente."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a analogia: assim como a mesa da cozinha fica cheia de papéis, a tela fica cheia de ícones. Diga que arrumar a tela é como arrumar a mesa — e que vamos fazer isso no próximo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cada aluno aponte com o dedo, na própria tela, as quatro partes enquanto você fala. Confira visualmente se todos acharam antes de seguir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Ensine o caminho universal: Iniciar, digitar o nome, Enter. Este único caminho abre qualquer programa e evita que o aluno precise decorar onde cada coisa fica no computador. Repita esse padrão em todos 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"sumiu tudo" quase sempre é a janela minimizada, não perdida. Mostre como recuperá-la clicando no ícone da barra de baixo. Este slide resolve o maior número de pedidos de socorro do curso. Avise que o X fecha de verdade e pode perder o que não foi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junto, passo a passo, esperando todos concluírem cada etapa. Repita o ciclo duas vezes. Comemore: "A janela estava só guardada, igual a um papel que você põe na gaveta."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Alivie a ansiedade logo no começo: "Ninguém precisa saber para que serve cada tecla. Nem eu uso todas." Aponte a área cinza (F1 a F12) e diga que ela pode ser ignorada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toque em cada tecla enquanto você a nomeia. Explique o Caps Lock pela luzinha: "Se você está escrevendo TUDO GRITADO, é essa luz que está acesa. Aperte de novo e ela apaga."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no projetor escrevendo "João" e "coração". O erro clássico é apertar a letra primeiro. Mostre também que o acento não aparece sozinho na tela — ele espera a letra chegar.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primeiro projetado, devagar. Explique que o computador começa a procurar assim que você digita as primeiras letras e que não é preciso escrever tudo certinho.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corrija erros de digitação — o objetivo é o gesto, não o texto perfeito. Circule elogiando. Quem terminar rápido, peça que escreva o nome dos filhos ou netos: ninguém pode ficar ocioso.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na tela durante a prática. Ele reduz a sensação de fracasso e ensina autonomia. Reforce: "Errar faz parte. Eu também erro, todo dia."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dois ou três alunos leiam em voz alta o que escreveram — isso valoriza a produção e cria clima de turma. Depois prepare a transição para a 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no quadro o horário exato da volta. Avise que não precisa desligar nada. Aproveite a pausa para conversar individualmente com quem estiver com mais dificuldade — sem plateia, a pessoa se abre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com energia depois do café. Diga: "Este módulo resolve a maior queixa de todo mundo: eu salvei e nunca mais achei."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 uma pasta de cartolina e algumas folhas de papel de verdade para a aula. Coloque as folhas dentro da pasta na frente da turma. Essa demonstração física é o que faz o conceito grudar.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direto sobre a perda: esta é uma das poucas coisas que não têm volta, e o aluno precisa saber disso. Ensine o hábito de salvar a cada poucos minutos, sem esperar terminar 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Alerte para o detalhe crítico do passo 5: se o aluno clicar fora antes de digitar, a pasta vira "Nova pasta". Mostre logo como consertar, para ninguém ficar travado.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Confira aluno por aluno. Todos precisam concluir este passo, porque a pasta será usada no resto do curso e na atividade final. Quem não conseguir, faça junto guiando a mão.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passo mais difícil do turno. Vá bem devagar, um número por vez, esperando toda a turma. Repita a lógica em voz alta: "Primeiro escolho a gaveta, depois dou o nome ao papel."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que esta mesma janela aparece no Word, no Excel e em qualquer programa. Aprender uma vez serve para sempre. Peça que marquem esta página na cartilha.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momento de reencontrar o próprio arquivo é a virada de chave deste módulo. Comemore alto: "Está vendo? Não se perdeu. Está guardado, igual ao papel na gaveta." Peça palmas para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nome pode ser trocado à vontade e que o conteúdo continua lá. Sugira nomes úteis para o dia a dia: Receitas, Documentos, Fotos da família.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demonstração completa: apague um arquivo de teste e traga de volta na frente da turma. Isso reforça a regra de ouro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Desenhe o caminho no quadro branco como uma árvore: Área de Trabalho, pasta Minhas Coisas, arquivo Sobre mim. Pergunte onde está o arquivo e espere que a turma responda o caminho completo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Transição: "Até agora escrevemos texto simples. Agora vamos deixar o texto bonito, com letra grande, negrito e cor — como numa carta de verdade."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analogia do papel de rascunho e do papel de carta. Se o laboratório usar LibreOffice ou Google Docs, ajuste os nomes na hora e avise a turma que o botão é o mesmo, só muda o desenho.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a repetição do padrão. Quanto menos caminhos diferentes o aluno precisar decorar, mais autonomia ele terá em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Ignore todo o resto da barra — mostre apenas estes cinco botões. Aponte cada um no projetor e demonstre o efeito imediatamente, para que vejam a mudança acontecer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regra que destrava o módulo inteiro: pintar primeiro, enfeitar depois. Repita várias vezes. Mostre também que três cliques rápidos pintam o parágrafo inteiro de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o exemplo no projetor durante toda a prática. O conteúdo afetivo aumenta muito o engajamento. Não corrija ortografia nem digitação.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momento de maior orgulho do turno. Circule elogiando e peça que os alunos virem a tela para os colegas verem. Se houver impressora, imprima as cartas: o papel na mão vale muito.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Repetição intencional do Módulo 3. Deixe que tentem sozinhos primeiro e só ajude quem levantar a mão. É o primeiro teste real de autonomia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porquê com a analogia da casa. Puxar da tomada é como sair pela janela com tudo aceso. Peça que todos desliguem junto com você, acompanhando na tela projetada.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lista devagar, item por item, apontando na tela. Peça palmas para a turma. Este slide combate a autodepreciação ("eu sou muito burro para isso") com a evidência concreta do que foi feito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claro que não haverá cobrança nem correção. Informe o horário exato do segundo turno e antecipe o que vem: "Amanhã cada um sai daqui com um e-mail próprio." Despeça-se de cada aluno pelo nome, na 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Receba a turma pelo nome. Pergunte quem conseguiu praticar em casa, sem cobrar de quem não fez. Anuncie o destaque do dia: "Hoje cada um sai daqui com um endereço de e-mail funcionando."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explique nada — deixe a turma tentar sozinha e observe quem trava e em qual etapa. Isso mostra exatamente o que precisa ser reforçado. Só intervenha depois de dois minutos de tentativa.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Avise que o dia é mais corrido e que a pausa é sagrada. Reforce que a parte de segurança é a que mais protege o bolso da família — isso costuma despertar bastante interesse.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à turma: "O que vocês acham que é a internet?" Ouça duas ou três respostas antes de explicar. Partir do que eles já imaginam facilita muito a compreensão.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analogia da biblioteca: "É como uma biblioteca gigante, aberta 24 horas, com tudo que já foi escrito. O navegador é o funcionário que busca o livro para você."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qual é o navegador do laboratório e onde está o ícone. Peça que todos apontem com o dedo antes de clicar. Evite a palavra browser durante todo 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 a este detalhe, que confunde muita gente: na barra de tarefas basta um clique; na Área de Trabalho são dois. Circule conferindo aluno por aluno.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Tranquilize a turma: não é preciso escrever bonito nem completo. Demonstre pesquisando algo escrito propositalmente errado, como "recieta de bolo", para mostrar que funciona mesmo assim.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o nome da cidade no quadro branco para todos copiarem. Pergunte em voz alta: "Quem vai precisar levar guarda-chuva amanhã?" A resposta imediata e útil é o que mostra o valor da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Insista na diferença entre anúncio e resultado. Este conhecimento será retomado no módulo de segurança: muitos golpes chegam por anúncios pagos no topo da busca.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seta de voltar é o botão de segurança deste módulo. Faça a turma praticar entrar e voltar três vezes, até virar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exploração livre: é aqui que a internet deixa de ser abstrata. Circule perguntando o que cada um achou. Guarde três minutos no fim para que dois ou três alunos contem a descoberta para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semente do módulo de segurança. Frase para a turma repetir junto: "Ninguém dá nada de graça na internet." Mostre um exemplo real projetado, se tiver.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Anote no quadro os interesses que aparecerem — eles servirão de tema para a pesquisa da atividade final. Prepare a transição para o e-mail, o ponto alto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Anuncie com entusiasmo: "Ao fim desta hora, cada um de vocês terá um endereço próprio na internet e terá mandado e recebido uma mensagem." Avise que é o módulo mais longo e que ninguém fica para 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para que serve no dia a dia: receber comprovantes, falar com a família, se cadastrar em serviços, receber fotos dos netos. Sem uso prático claro, o aluno não vê motivo para ter e-mail.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onde fica o arroba no teclado e faça todos praticarem digitá-lo antes de seguir. Este detalhe trava muita gente na hora do cadastro.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endereços simples já foram tomados por outras pessoas e que isso não é erro do aluno: basta acrescentar um número, como o ano de nascimento. Peça que escrevam a opção escolhida no papel antes de digitar.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deixe ninguém usar data de nascimento nem nome de filho. Ensine o truque da frase pessoal: fácil de lembrar, difícil de adivinhar. Nunca peça que digam a senha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Vá um passo por vez, com a tela projetada, esperando toda a turma antes de avançar. Avise que as telas mudam de tempos em tempos e que os botões podem estar em lugar um pouco diferente — o caminho, porém, é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Avise no início do módulo para todos pegarem o celular. Quem não tiver celular deve ser atendido individualmente: use o número de um familiar presente ou uma conta preparada por você antes da aula. Reserve pelo menos 25 minutos para este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a aula e confira aluno por aluno se anotaram corretamente. Sem isso, metade da turma perde o acesso na semana seguinte. Diferencie com clareza: anotar no papel guardado em casa é seguro; informar a senha a alguém, não.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 a caixa de correio: chegou carta nova, ela está fechada (negrito); depois de aberta, fica normal. Peça que localizem cada item na própria tela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assunto como o título da carta. Alerte para o erro mais comum: uma letra errada no endereço impede a entrega e a mensagem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o seu endereço no quadro branco em letra bem grande. Vá respondendo as mensagens em tempo real com um "Parabéns, [nome]! Você conseguiu!". A resposta chegando na tela é o momento mais emocionante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ciclo completo — enviar, receber, ler e responder — é o atestado prático de conclusão previsto no plano de aula. Confira na sua caixa quem completou e registre no checklist de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projetado agora; a prática será no desafio final. Peça que marquem esta página na cartilha, porque é o passo que mais gera dúvida na atividade integradora.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afetiva de propósito — filhos, netos, irmãos. Isso liga a habilidade à vida real e aumenta muito a chance de o aluno continuar praticando depois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no quadro o horário de volta. Aproveite para conferir na sua caixa de entrada quem ainda não enviou o e-mail e atenda essas pessoas individualmente durante a 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com uma pergunta prática: "Quem aqui anota as contas do mês num caderninho?" A planilha será apresentada como esse caderninho, só que fazendo a conta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Enfatize o benefício concreto: "Você muda um preço e o total se corrige sozinho, sem precisar refazer a conta." Este é o argumento que convence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analogia do cinema funciona muito bem com este público. Peça que cliquem em quadradinhos diferentes e observem o nome mudando no canto superior esquerdo da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caminho de sempre: Iniciar, nome, Enter. Ensine as duas teclas de navegação — é o que mais acelera o preenchimento e evita o uso do mouse a cada célula.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a tabela no quadro branco também. Circule verificando se cada item está no quadradinho certo — o alinhamento correto é o que fará a soma funcionar no passo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momento mágico do módulo. Faça bem devagar, projetado, e depois acompanhe aluno por aluno. Se a linha tracejada pegar as células erradas, ensine a arrastar para corrigir antes do 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olhe o total antes e depois. O espanto é coletivo e é o que faz a planilha fazer sentido. Comente usos reais: contas de luz ao longo do ano, controle de remédios.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a regra do Módulo 4. A repetição do mesmo padrão em programas diferentes é o que consolida a autonomia do aluno.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Terceira repetição do mesmo procedimento no curso. Deixe que façam sozinhos e apenas observe: a maioria já deve conseguir sem ajuda. Aponte esse avanço em voz alta para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cada aluno diga uma lista que gostaria de montar em casa. Amarre com a cartilha: "O passo a passo está lá, é só repetir trocando os nomes."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Anuncie a importância: "Este é o módulo que protege o dinheiro da sua família. Prestem atenção e depois contem tudo em casa." Peça que fechem os programas e olhem para o telão — este módulo é conduzido por você.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a regra que resolve quase tudo: nenhuma empresa séria pede senha por telefone, e-mail ou mensagem. Se pediu, é golpe. Repita essa frase mais de uma vez durante 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Ensine o truque da frase pessoal transformada em senha. Não peça que ninguém diga a própria senha em voz alta — aproveite para ensinar isso pelo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Contrarie a ideia de que anotar é sempre errado: para este público, o papel guardado em casa é mais seguro do que esquecer a senha e perder o acesso. O perigo está em deixar exposto ou entregar a estranhos.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quem já recebeu alguma dessas mensagens — quase todos levantarão a mão. Ouça uma ou duas histórias reais: o relato dos colegas ensina mais do que qualquer explicação sua.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Conduza como investigação coletiva: mostre a mensagem e pergunte "o que está estranho aqui?" antes de revelar as marcações. A turma aprende muito mais descobrindo do que ouvindo.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golpe que mais atinge este público. Enfatize a regra da ligação de confirmação e sugira combinar uma palavra secreta com a família — medida simples e muito eficaz.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como conferir o endereço do remetente. Deixe a regra prática: na dúvida, feche tudo e ligue para o banco usando o telefone impresso no cartão — nunca o telefone que a mensagem informa.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para fotografar. Peça que todos anotem os cinco sinais na cartilha e ensinem em casa. Vale imprimir em tamanho grande e afixar no laboratório.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as seis em voz alta e peça que a turma repita a última junto com você. Combine que qualquer aluno pode ligar para você em caso de dúvida, mesmo depois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Alerte que sites falsos também podem exibir cadeado. O que mais importa é o endereço estar exatamente correto, sem palavras a mais nem letras trocadas.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Combata a vergonha, que é o que faz a vítima demorar a agir e perder mais dinheiro. Reforce que o importante é agir rápido, nas primeiras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cinco minutos para os relatos. Este costuma ser o momento de maior participação do curso. Encerre reforçando o papel de multiplicador: "Vocês agora protegem a família inteira."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Anuncie com bom humor para tirar o peso: "Não é prova, é volta olímpica. Vocês já fizeram tudo isso hoje, só que separado. Agora é tudo junto." Reforce que podem consultar a cartilha à vontade.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fixo na tela durante toda a atividade. Não ajude de imediato: espere o aluno tentar. Só intervenha depois de dois minutos de dificuldade, e com perguntas ("onde você salvou?"), nunca com respostas prontas.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Ensine a consultar em vez de perguntar: é isso que garante autonomia depois do curso. Circule observando, mas aponte para a cartilha antes de responder.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cada aluno marque o próprio checklist na cartilha. A autoavaliação positiva fecha o curso com sensação de conquista. Enquanto isso, confira sua caixa de entrada e complete o checklist do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avaliação formativa em linguagem simples. Se houver alunos que não concluíram tudo, trate com naturalidade e ofereça um horário de reforço, sem expor ninguém diante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Entregue o certificado nominal, um por um, chamando cada aluno pelo nome e pedindo palmas. Este momento é o que faz o aluno voltar para o próximo curso e trazer amigos.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mão esquece se não praticar. Destaque o dia 6: quem ensina, fixa o que aprendeu. Sugira que ensinem um vizinho ou um amigo da mesma 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piada de propósito: pedir ajuda por e-mail é a prova prática de que aprenderam. Divulgue o próximo curso e anote quem tiver interesse ainda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Tire a foto da turma e envie por e-mail para todos — é a última prática do curso e todos vão querer receber. Despeça-se de cada aluno pelo nome, à porta, como na chegada.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4.png"/><Relationship Id="rId4" Type="http://schemas.openxmlformats.org/officeDocument/2006/relationships/image" Target="../media/image6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424160" y="5120640"/>
            <a:ext cx="3108960" cy="310896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Informática Básica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computador sem medo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prático · 8 horas · 2 turnos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96912" y="1819085"/>
            <a:ext cx="4517136" cy="3128391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20253"/>
            <a:ext cx="4114800" cy="27260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bom que você veio!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595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aqui precisa saber nada de computador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pergunta boba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no seu ritmo, todos juntos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vai aprender fazendo, com as suas mãos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89611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8558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Diga o seu nome e uma coisa que você quer muito aprender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2103120"/>
            <a:ext cx="1920240" cy="1920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5" y="2621585"/>
            <a:ext cx="883310" cy="8833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120640" cy="512064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-201168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641848" y="868680"/>
            <a:ext cx="1554480" cy="155448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558" y="1288390"/>
            <a:ext cx="715061" cy="715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69748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VAI QUEBRAR O COMPUTADOR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005840" y="45720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clicar. Pode errar. Quase tudo tem volta.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caminho no primeiro dia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3401568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Horário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vamos fazer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0h00 – 1h00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Conhecer o computador e dominar o mouse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1h00 – 2h00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tela inicial e o teclado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2h00 – 2h15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Pausa para o café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2h15 – 3h15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Guardar coisas: arquivos e pastas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3h15 – 4h00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Escrever e enfeitar um texto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caminho no segundo dia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396849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Horário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vamos fazer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4h00 – 5h00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 e pesquisa no Google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5h00 – 6h00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Criar seu e-mail e enviar mensagens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6h00 – 6h15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Pausa para o café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6h15 – 7h00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de compras que soma sozinha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7h00 – 7h45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Golpes: como se proteger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7h45 – 8h00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Desafio final e certificado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 do curso, você vai saber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70992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1813621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Ligar e desligar o computador sozinho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" y="244144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2545141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2728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uma carta e deixá-la bonita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85800" y="317296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3276661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52728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seus arquivos e achar depois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85800" y="390448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4008181"/>
            <a:ext cx="176662" cy="176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52728" y="3749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Pesquisar qualquer coisa na internet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355080" y="170992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1813621"/>
            <a:ext cx="176662" cy="1766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22008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 um e-mail e mandar mensagens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6355080" y="244144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2545141"/>
            <a:ext cx="176662" cy="17666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22008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uma lista de compras que soma sozinha</a:t>
            </a:r>
            <a:endParaRPr lang="en-US" sz="1800" dirty="0"/>
          </a:p>
        </p:txBody>
      </p:sp>
      <p:sp>
        <p:nvSpPr>
          <p:cNvPr id="25" name="Shape 16"/>
          <p:cNvSpPr/>
          <p:nvPr/>
        </p:nvSpPr>
        <p:spPr>
          <a:xfrm>
            <a:off x="6355080" y="317296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3276661"/>
            <a:ext cx="176662" cy="17666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22008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golpes e não cair neles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combinados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595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sempre que tiver dúvida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Levante a mão e espere: eu vou até você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corra na frente — vamos todos juntos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travar, pare e me chame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no silencioso, por favor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89611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8558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Combinado? Então vamos começar!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2103120"/>
            <a:ext cx="1920240" cy="1920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5" y="2621585"/>
            <a:ext cx="883310" cy="883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cartilha vai com você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595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o passo a passo de hoje está nela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Letras grandes e desenhos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para anotar seu e-mail e sua senha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 para casa e use sempre que precisar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89611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8558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seu nome na capa agora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2103120"/>
            <a:ext cx="1920240" cy="1920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5" y="2621585"/>
            <a:ext cx="883310" cy="8833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 ·  0h00 – 1h00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Conhecendo a máquina e o mouse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fazer amizade com o computador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partes do computador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63452" y="1316736"/>
            <a:ext cx="6434616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756" y="1463040"/>
            <a:ext cx="6142008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Toque em cada peça enquanto eu falo o nome dela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peça tem a sua função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28346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Peça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que serve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 como…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Mostra as coisas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televisão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Gabinete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Pensa e guarda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cérebro e o armário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Teclado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Escrever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máquina de escrever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Mouse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Apontar e escolher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seu dedo indicador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 a energia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63452" y="1316736"/>
            <a:ext cx="6434616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756" y="1463040"/>
            <a:ext cx="6142008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apagada nem sempre quer dizer computador desligado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ligar o computador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83639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836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554480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o botão do gabinete (a caixa)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52717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271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398014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o botão do monitor (a tela)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37070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3707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41548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Espere. Vai demorar um pouquinho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14241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2142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085082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inicial vai aparecer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aperte de novo enquanto espera — senão ele desliga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39128" y="2121865"/>
            <a:ext cx="4901184" cy="3345790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268169"/>
            <a:ext cx="4608576" cy="30531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o seu computador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3794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o botão do gabinete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69464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o botão do monitor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93592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447288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Espere a tela aparecer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471416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325112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Levante a mão quando conseguir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693408" y="2106720"/>
            <a:ext cx="4946904" cy="3376079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253024"/>
            <a:ext cx="4654296" cy="30834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de entrada e a senha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595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computador pede uma senha para entrar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senha é a chave da sua casa digital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letras viram bolinhas: isso é proteção, não é erro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senha do nosso laboratório está no quadro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89611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8558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devagar. Se errar, apague e comece de novo.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2103120"/>
            <a:ext cx="1920240" cy="1920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5" y="2621585"/>
            <a:ext cx="883310" cy="8833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Conhecendo o mouse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471409" y="1316736"/>
            <a:ext cx="7218702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13" y="1463040"/>
            <a:ext cx="6926094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dúvida, use sempre o botão da esquerda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segurar o mouse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12758" y="1316736"/>
            <a:ext cx="6936004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62" y="1463040"/>
            <a:ext cx="6643396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mouse não sai da mesa: ele desliza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movimentos do mouse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65376" y="1316736"/>
            <a:ext cx="8430768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463040"/>
            <a:ext cx="813816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· clicar · clicar duas vezes · arrastar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Acordando a setinha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79934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779934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1198" y="1691640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Encoste a mão no mouse e mexa bem devagar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427330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427330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1198" y="2339035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 a setinha na tela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074725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074725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1198" y="2986430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 a setinha até o canto de cima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722120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3722120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1198" y="3633826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até o canto de baixo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4369515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4369515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1198" y="4281221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 por cima dos desenhos e observe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clicar em nada! Só passeando.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693408" y="2281257"/>
            <a:ext cx="4946904" cy="3027007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427561"/>
            <a:ext cx="4654296" cy="27343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Arrastando a Lixeira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3794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 a setinha até o desenho da Lixeira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69464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o botão esquerdo e segure o dedo apertado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93592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447288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soltar, deslize o mouse para o outro lado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471416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325112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Solte o dedo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693408" y="2368525"/>
            <a:ext cx="4946904" cy="2852471"/>
          </a:xfrm>
          <a:prstGeom prst="roundRect">
            <a:avLst>
              <a:gd name="adj" fmla="val 3847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514829"/>
            <a:ext cx="4654296" cy="25598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duas vezes é abrir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clique: escolhe (o desenho fica azul)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cliques rápidos: abre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cliques são no mesmo lugar, sem mexer o mouse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abriu? Foi devagar demais. Tente de novo.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acerta de primeira. Isso é treino de mão.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47688" y="2473452"/>
            <a:ext cx="4992624" cy="264261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619756"/>
            <a:ext cx="4700016" cy="23500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Jogo da Paciência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07449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07449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8018" y="1691640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botão Iniciar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16693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16693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28018" y="2500884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"Paciência" e aperte Enter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425937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425937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8018" y="3310128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Arraste as cartas de um monte para o outro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235181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235181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8018" y="4119372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Jogue à vontade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 você treina clicar e arrastar brincando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93408" y="2310346"/>
            <a:ext cx="4946904" cy="2968828"/>
          </a:xfrm>
          <a:prstGeom prst="roundRect">
            <a:avLst>
              <a:gd name="adj" fmla="val 369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456650"/>
            <a:ext cx="4654296" cy="26762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botão direito abre opções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79192" y="1316736"/>
            <a:ext cx="6803136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1463040"/>
            <a:ext cx="6510528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escolheu nada? Clique num espaço vazio e o menu some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1828800" cy="182880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505456"/>
            <a:ext cx="841248" cy="841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91840" y="2011680"/>
            <a:ext cx="8366760" cy="1371600"/>
          </a:xfrm>
          <a:prstGeom prst="roundRect">
            <a:avLst>
              <a:gd name="adj" fmla="val 9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566160" y="201168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ficou confuso até aqui?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291840" y="365760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sabe: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383280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Ligar o computador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33822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525262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a setinha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75804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67244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e clicar duas vezes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717786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809226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Arrastar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 ·  1h00 – 2h00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inicial e o teclado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sua mesa de trabalho e a máquina de escrever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inicial é a sua mesa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se chama Área de Trabalho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desenhos são as suas coisas em cima da mesa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bagunçada? A tela também fica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aprender a arrumar tudo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 é mesa. Pasta é gaveta. Simples assim.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47688" y="2267826"/>
            <a:ext cx="4992624" cy="3053867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414130"/>
            <a:ext cx="4700016" cy="276125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partes da tela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078961" y="1316736"/>
            <a:ext cx="6003597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265" y="1463040"/>
            <a:ext cx="5710989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Aponte com o dedo, na sua tela, cada uma das quatro partes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botão Iniciar abre tudo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96126" y="1316736"/>
            <a:ext cx="7369269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30" y="1463040"/>
            <a:ext cx="7076661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→ digite o nome → Enter. Esse caminho abre qualquer programa.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botõezinhos do canto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12758" y="1316736"/>
            <a:ext cx="6936004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62" y="1463040"/>
            <a:ext cx="6643396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Sumiu tudo? Provavelmente a janela só foi guardada lá embaixo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guardar e fechar uma janela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07449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07449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8018" y="1691640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duas vezes na Lixeira: abriu uma janela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16693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16693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28018" y="2500884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— : a janela sumiu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425937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425937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8018" y="3310128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desenho dela na faixa de baixo: voltou!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235181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235181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8018" y="4119372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✕ : fechou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Viu? A janela não foi para lugar nenhum.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93408" y="2223078"/>
            <a:ext cx="4946904" cy="3143364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369382"/>
            <a:ext cx="4654296" cy="28507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Conhecendo o teclado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17496" y="1316736"/>
            <a:ext cx="7526528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1362456"/>
            <a:ext cx="723392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precisa decorar o teclado. Só conhecer 6 teclas.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6 teclas que salvam sua vida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96126" y="1316736"/>
            <a:ext cx="7369269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30" y="1463040"/>
            <a:ext cx="7076661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Toque em cada uma no seu teclado enquanto eu falo o nome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Maiúscula, acento e cedilha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554480"/>
            <a:ext cx="5193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 maiúscula: segure Shift e aperte a letra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633472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468880"/>
            <a:ext cx="5193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"ã": aperte a tecla do ~ e depois o 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547872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383280"/>
            <a:ext cx="5193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"ç": tem uma tecla só dela, ao lado do 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o acento, depois a letra. Sempre nessa ordem.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39128" y="2352294"/>
            <a:ext cx="4901184" cy="2884932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498598"/>
            <a:ext cx="4608576" cy="259232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abrir o Bloco de Notas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96126" y="1316736"/>
            <a:ext cx="7369269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30" y="1463040"/>
            <a:ext cx="7076661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→ escreva "bloco de notas" → Enter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Escrevendo sobre você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2331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233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seu nome completo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7187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718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4020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Enter para pular de linha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388766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a sua idade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36900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3690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23733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Enter de novo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5217566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2175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5608" y="508589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uma coisa que você gosta de fazer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93408" y="2339435"/>
            <a:ext cx="4946904" cy="2910650"/>
          </a:xfrm>
          <a:prstGeom prst="roundRect">
            <a:avLst>
              <a:gd name="adj" fmla="val 3770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485739"/>
            <a:ext cx="4654296" cy="261804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 errado? Tem conserto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aconteceu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fazer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Escrevi errado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Aperte Backspace para apagar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 tudo em MAIÚSCULA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Aperte Caps Lock uma vez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Sumiu tudo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Olhe a faixa de baixo, deve estar lá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Apareceu uma janela estranha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Clique em Cancelar ou no ✕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sei o que eu fiz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Levante a mão e me chame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1828800" cy="182880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505456"/>
            <a:ext cx="841248" cy="841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91840" y="2011680"/>
            <a:ext cx="8366760" cy="1371600"/>
          </a:xfrm>
          <a:prstGeom prst="roundRect">
            <a:avLst>
              <a:gd name="adj" fmla="val 9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566160" y="201168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Alguma tecla ficou confusa?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291840" y="365760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sabe: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383280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programas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33822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525262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as janelas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75804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67244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Digitar e apagar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717786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809226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Pular de linha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A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23160"/>
            <a:ext cx="384048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para o café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0" y="2743200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669280" y="2743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97880" y="374904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Levante, estique as pernas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Descanse os olhos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deixar o computador ligado</a:t>
            </a:r>
            <a:endParaRPr lang="en-US" sz="1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 ·  2h15 – 3h15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Guardando as suas coisas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e pastas: as gavetas do computador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e gaveta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059142" y="1316736"/>
            <a:ext cx="8043237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446" y="1463040"/>
            <a:ext cx="7750629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é o papel. Pasta é a gaveta onde o papel fica guardado.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salvar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é guardar de verdade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você não salva, o texto está só na tela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leva 3 segundos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Escreveu um pouco? Salve. Escreveu mais? Salve de novo.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desligar sem salvar, o texto some — e some mesmo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47688" y="2414702"/>
            <a:ext cx="4992624" cy="2760116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561006"/>
            <a:ext cx="4700016" cy="246750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uma pasta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28318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8318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5072" y="1554480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 para a tela inicial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190674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90674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5072" y="2116836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com o botão DIREITO num espaço vazio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753030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2753030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5072" y="2679192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Novo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315386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315386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5072" y="3241548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Pasta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3877742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3877742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5072" y="3803904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 enquanto está azul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7240" y="4440098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4440098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5072" y="4366260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Enter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Clicou fora antes de digitar? Botão direito → Renomear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39128" y="2208276"/>
            <a:ext cx="4901184" cy="3172968"/>
          </a:xfrm>
          <a:prstGeom prst="roundRect">
            <a:avLst>
              <a:gd name="adj" fmla="val 3458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354580"/>
            <a:ext cx="4608576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a pasta "Minhas Coisas"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2331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233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direito num espaço vazio da tela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7187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718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4020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→ Pasta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388766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Digite: Minhas Coisas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36900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3690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23733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Enter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5217566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2175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5608" y="508589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Levante a mão quando aparecer a pastinha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93408" y="2281257"/>
            <a:ext cx="4946904" cy="3027007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427561"/>
            <a:ext cx="4654296" cy="273439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Salvando dentro da sua pasta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55521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55521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0686" y="1554480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Arquivo, no canto de cima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377897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377897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0686" y="2276856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Salvar como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100273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100273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0686" y="2999232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lado esquerdo, clique em Área de Trabalho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822649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822649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0686" y="3721608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duas vezes em Minhas Coisas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545025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545025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0686" y="4443984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o nome: Sobre mim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7240" y="5267401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5267401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0686" y="5166360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botão Salvar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39128" y="2265883"/>
            <a:ext cx="4901184" cy="3057754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412187"/>
            <a:ext cx="4608576" cy="276514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janela de salvar, por dentro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43556" y="1316736"/>
            <a:ext cx="7074408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860" y="1463040"/>
            <a:ext cx="6781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guardar · qual nome · botão Salvar. Sempre nessa ordem.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e achar de novo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07449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07449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8018" y="1691640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seu texto dentro de Minhas Coisas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16693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16693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28018" y="2500884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Feche tudo clicando no ✕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425937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425937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8018" y="3310128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duas vezes na pasta Minhas Coisas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235181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235181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8018" y="4119372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Achou seu arquivo? Clique duas vezes nele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abriu de novo, com tudo o que você escreveu!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93408" y="2281257"/>
            <a:ext cx="4946904" cy="3027007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427561"/>
            <a:ext cx="4654296" cy="273439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Trocando o nome de uma pasta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83639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836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554480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com o botão direito em cima da pasta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52717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271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398014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Renomear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37070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3707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41548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Apague o nome antigo com o Backspace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14241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2142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085082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novo nome e aperte Enter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trocar quantas vezes quiser, sem perder nada de dentro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39128" y="2208276"/>
            <a:ext cx="4901184" cy="3172968"/>
          </a:xfrm>
          <a:prstGeom prst="roundRect">
            <a:avLst>
              <a:gd name="adj" fmla="val 3458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354580"/>
            <a:ext cx="4608576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Lixeira: apagar e recuperar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apagar: clique no arquivo e aperte Delete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não some: vai para a Lixeira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recuperar: abra a Lixeira, botão direito, Restaurar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some de verdade quando você esvazia a Lixeira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uma prova de que quase tudo tem conserto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47688" y="2355952"/>
            <a:ext cx="4992624" cy="2877617"/>
          </a:xfrm>
          <a:prstGeom prst="roundRect">
            <a:avLst>
              <a:gd name="adj" fmla="val 3813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502256"/>
            <a:ext cx="4700016" cy="258500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1828800" cy="182880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505456"/>
            <a:ext cx="841248" cy="841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91840" y="2011680"/>
            <a:ext cx="8366760" cy="1371600"/>
          </a:xfrm>
          <a:prstGeom prst="roundRect">
            <a:avLst>
              <a:gd name="adj" fmla="val 9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566160" y="201168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está guardado o seu texto?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291840" y="365760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sabe: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383280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pasta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33822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525262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dentro dela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75804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67244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 depois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717786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809226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Renomear e recuperar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  ·  3h15 – 4h00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e deixar bonito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primeira carta no computador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de Notas ou Word?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Bloco de Notas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 / WordPad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escreve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Escreve e enfeita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 sempre igual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 grande, pequena, colorida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anotações rápidas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cartas, receitas, currículos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2578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768096" y="5257800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Bloco de Notas é o rascunho. O Word é o papel de carta bonito.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abrir o Word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83639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836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554480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Iniciar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52717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271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398014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Digite: word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37070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3707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41548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Enter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14241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2142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085082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Documento em branco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sempre o mesmo caminho: Iniciar → nome → Enter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39128" y="2323490"/>
            <a:ext cx="4901184" cy="2942539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469794"/>
            <a:ext cx="4608576" cy="264993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barra de enfeites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7303" y="1316736"/>
            <a:ext cx="9866914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607" y="1463040"/>
            <a:ext cx="9574306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estes cinco botões importam hoje. O resto pode ignorar.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pinte, depois enfeite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059142" y="1316736"/>
            <a:ext cx="8043237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446" y="1463040"/>
            <a:ext cx="7750629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computador precisa saber QUAL texto você quer mudar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Escrevendo uma carta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07449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07449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8018" y="1691640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linha: Carta para meu neto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16693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16693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28018" y="2500884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Enter duas vezes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425937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425937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8018" y="3310128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3 linhas contando o que você aprendeu hoje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235181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235181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8018" y="4119372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final escreva: Um abraço, e o seu nome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para alguém de verdade. Vale filho, neto, irmã, vizinha.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93408" y="2484882"/>
            <a:ext cx="4946904" cy="2619756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631186"/>
            <a:ext cx="4654296" cy="232714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Enfeitando o título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2331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233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 a primeira linha arrastando por cima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7187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718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4020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N: ficou forte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388766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Troque o tamanho para 20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36900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3690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23733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A colorido e escolha uma cor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5217566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2175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5608" y="508589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botão de centralizar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93408" y="2484882"/>
            <a:ext cx="4946904" cy="2619756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631186"/>
            <a:ext cx="4654296" cy="232714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Salvando a sua carta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79934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779934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1198" y="1691640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→ Salvar como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427330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427330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1198" y="2339035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Área de Trabalho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074725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074725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1198" y="2986430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duas vezes em Minhas Coisas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722120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3722120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1198" y="3633826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 Minha carta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4369515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4369515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1198" y="4281221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Salvar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guardar → qual nome → Salvar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693408" y="2252167"/>
            <a:ext cx="4946904" cy="3085186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398471"/>
            <a:ext cx="4654296" cy="279257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Desligando do jeito certo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04394" y="1316736"/>
            <a:ext cx="6552731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698" y="1463040"/>
            <a:ext cx="6260123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como sair de casa: apague a luz, feche a porta e só então saia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DO TURNO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Olhe tudo o que você já sabe fazer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70992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1813621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Ligar e desligar o computador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" y="244144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2545141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2728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Clicar, clicar duas vezes e arrastar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85800" y="317296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3276661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52728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e fechar programas e janelas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355080" y="170992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1813621"/>
            <a:ext cx="176662" cy="176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22008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Digitar com espaço, acento e maiúscula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355080" y="244144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2545141"/>
            <a:ext cx="176662" cy="1766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22008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uma pasta e salvar dentro dela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6355080" y="317296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3276661"/>
            <a:ext cx="176662" cy="17666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22008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e enfeitar uma carta</a:t>
            </a:r>
            <a:endParaRPr lang="en-US" sz="1800" dirty="0"/>
          </a:p>
        </p:txBody>
      </p:sp>
      <p:sp>
        <p:nvSpPr>
          <p:cNvPr id="25" name="Shape 16"/>
          <p:cNvSpPr/>
          <p:nvPr/>
        </p:nvSpPr>
        <p:spPr>
          <a:xfrm>
            <a:off x="566928" y="50749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7"/>
          <p:cNvSpPr/>
          <p:nvPr/>
        </p:nvSpPr>
        <p:spPr>
          <a:xfrm>
            <a:off x="768096" y="507492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isso em 4 horas. E você achava que não ia conseguir.</a:t>
            </a:r>
            <a:endParaRPr lang="en-US" sz="1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DO TURNO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praticar em casa (se quiser)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595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e desligue o computador uma vez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o Bloco de Notas e escreva 3 linhas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uma pasta com o seu nome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tem computador? Leia a cartilha e olhe os desenhos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89611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8558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prova. Não vale nota. É só para a mão não esquecer.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2103120"/>
            <a:ext cx="1920240" cy="1920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5" y="2621585"/>
            <a:ext cx="883310" cy="88331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424160" y="5120640"/>
            <a:ext cx="3108960" cy="310896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Conectando-se ao mundo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· e-mail · planilhas · segurança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96912" y="1999107"/>
            <a:ext cx="4517136" cy="2768346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200275"/>
            <a:ext cx="4114800" cy="23660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AQUECIMENTO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aquecer a mão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79934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779934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1198" y="1691640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o computador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427330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427330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1198" y="2339035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a pasta Minhas Coisas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074725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074725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1198" y="2986430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o arquivo Minha carta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722120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3722120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1198" y="3633826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Acrescente uma linha no final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4369515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4369515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1198" y="4281221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e feche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Tente sozinho primeiro. Eu só olho.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693408" y="2281257"/>
            <a:ext cx="4946904" cy="3027007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427561"/>
            <a:ext cx="4654296" cy="273439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caminho hoje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Horário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vamos fazer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4h00 – 5h00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Internet: pesquisar no Google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5h00 – 6h00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Criar seu e-mail e enviar mensagens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6h00 – 6h15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Pausa para o café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6h15 – 7h00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de compras que soma sozinha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7h00 – 7h45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Golpes: como não cair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7h45 – 8h00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Desafio final e certificado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  ·  4h00 – 5h00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biblioteca do mundo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e pesquisa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a internet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96126" y="1316736"/>
            <a:ext cx="7369269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30" y="1463040"/>
            <a:ext cx="7076661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rede que liga computadores do mundo inteiro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navegador é a sua janela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Chrome: a bolinha colorida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a onda azul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Firefox: a raposa laranja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destes está no seu computador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diga "browser". Aqui a gente diz navegador.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47688" y="2179701"/>
            <a:ext cx="4992624" cy="3230118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326005"/>
            <a:ext cx="4700016" cy="293751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abrir o navegador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83639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836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554480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 o desenho colorido na faixa de baixo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52717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271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398014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uma vez (ou duas, se estiver na tela inicial)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37070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3707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41548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Espere abrir a janela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14241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2142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085082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Pronto: você está na internet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faixa de baixo é 1 clique. Na tela inicial são 2.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39128" y="2294687"/>
            <a:ext cx="4901184" cy="3000146"/>
          </a:xfrm>
          <a:prstGeom prst="roundRect">
            <a:avLst>
              <a:gd name="adj" fmla="val 3657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440991"/>
            <a:ext cx="4608576" cy="270753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barra de pesquisa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79192" y="1316736"/>
            <a:ext cx="6803136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1463040"/>
            <a:ext cx="6510528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com as suas palavras. Pode escrever errado, ele entende.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chover amanhã?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3794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na barra do meio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69464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Escreva: previsão do tempo e o nome da sua cidade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93592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447288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Enter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471416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325112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o resultado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693408" y="2455793"/>
            <a:ext cx="4946904" cy="2677935"/>
          </a:xfrm>
          <a:prstGeom prst="roundRect">
            <a:avLst>
              <a:gd name="adj" fmla="val 4097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602097"/>
            <a:ext cx="4654296" cy="2385327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Entendendo a página de resultados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65376" y="1316736"/>
            <a:ext cx="8430768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463040"/>
            <a:ext cx="813816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antes de clicar. Não precisa clicar no primeiro.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Voltar, avançar e abrir outra página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84079" y="1316736"/>
            <a:ext cx="9593362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383" y="1463040"/>
            <a:ext cx="9300754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em algo estranho? Seta da esquerda. Sempre.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Pesquise o que você quiser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79934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779934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1198" y="1691640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receita de bolo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427330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427330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1198" y="2339035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Notícias do seu time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074725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074725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1198" y="2986430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preço de um remédio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722120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3722120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1198" y="3633826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letra de uma música antiga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4369515"/>
            <a:ext cx="342790" cy="34279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4369515"/>
            <a:ext cx="342790" cy="34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1198" y="4281221"/>
            <a:ext cx="521676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da cidade onde você nasceu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Pesquise · clique · leia · volte · pesquise de novo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693408" y="2193989"/>
            <a:ext cx="4946904" cy="3201543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340293"/>
            <a:ext cx="4654296" cy="290893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com as piscadinhas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piscar, brilhar ou dizer que você ganhou: não clique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fechar, clique no ✕ pequenininho do canto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é de graça na internet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prêmio que você não disputou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47688" y="1885950"/>
            <a:ext cx="4992624" cy="381762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032254"/>
            <a:ext cx="4700016" cy="352501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1828800" cy="182880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505456"/>
            <a:ext cx="841248" cy="841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91840" y="2011680"/>
            <a:ext cx="8366760" cy="1371600"/>
          </a:xfrm>
          <a:prstGeom prst="roundRect">
            <a:avLst>
              <a:gd name="adj" fmla="val 9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566160" y="201168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quer aprender a pesquisar em casa?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291840" y="365760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sabe: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383280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o navegador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33822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525262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75804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67244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os resultados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717786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809226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Voltar e abrir outra página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  ·  5h00 – 6h00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endereço no mundo digital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E-mail: o correio que chega em 1 segundo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carta, mas na hora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61041" y="1316736"/>
            <a:ext cx="8639439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345" y="1463040"/>
            <a:ext cx="8346831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para falar com a família, receber comprovantes e fotos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endereço e o arroba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35292" y="1316736"/>
            <a:ext cx="7690935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596" y="1463040"/>
            <a:ext cx="7398327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@ se faz assim: segure Alt Gr e aperte a tecla do 2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Escolhendo o seu endereço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53492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5349240" cy="685800"/>
          </a:xfrm>
          <a:prstGeom prst="roundRect">
            <a:avLst>
              <a:gd name="adj" fmla="val 18667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5349240" cy="2286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Bons exemplos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23774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joao.pereira1952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mariadasilva.rj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antonio.carlos.jf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49240" cy="685800"/>
          </a:xfrm>
          <a:prstGeom prst="roundRect">
            <a:avLst>
              <a:gd name="adj" fmla="val 18667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349240" cy="2286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63640" y="15087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Evite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gatinha1952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xxlindona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apelidos de infância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" y="50292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502920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aparecer no médico, no banco, em documentos. Use o seu nome.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uma senha forte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53492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5349240" cy="685800"/>
          </a:xfrm>
          <a:prstGeom prst="roundRect">
            <a:avLst>
              <a:gd name="adj" fmla="val 18667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5349240" cy="2286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Senha boa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23774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Jardim1958flor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CachorroBob10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Fusca1972azul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49240" cy="685800"/>
          </a:xfrm>
          <a:prstGeom prst="roundRect">
            <a:avLst>
              <a:gd name="adj" fmla="val 18667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349240" cy="2286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63640" y="15087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Senha ruim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123456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data de nascimento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do filho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" y="50292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502920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numa frase sua e vire senha: "Meu cachorro é o Bob" → CachorroBob10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a sua conta — parte 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55521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55521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0686" y="1554480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o navegador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377897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377897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0686" y="2276856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na barra: gmail.com e aperte Enter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100273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100273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0686" y="2999232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Criar conta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822649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822649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0686" y="3721608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seu nome e sobrenome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545025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545025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0686" y="4443984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sua data de nascimento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7240" y="5267401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5267401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0686" y="5166360"/>
            <a:ext cx="52587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Avançar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39128" y="2208276"/>
            <a:ext cx="4901184" cy="3172968"/>
          </a:xfrm>
          <a:prstGeom prst="roundRect">
            <a:avLst>
              <a:gd name="adj" fmla="val 3458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354580"/>
            <a:ext cx="4608576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a sua conta — parte 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28318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8318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5072" y="1554480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o endereço que você anotou no papel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190674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90674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5072" y="2116836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 sua senha duas vezes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753030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2753030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5072" y="2679192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número do seu celular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315386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315386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5072" y="3241548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chegar um código por mensagem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3877742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3877742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5072" y="3803904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código na tela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7240" y="4440098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4440098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5072" y="4366260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Avançar até abrir sua caixa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Deixe o celular na mão e desbloqueado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39128" y="2381098"/>
            <a:ext cx="4901184" cy="2827325"/>
          </a:xfrm>
          <a:prstGeom prst="roundRect">
            <a:avLst>
              <a:gd name="adj" fmla="val 3881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527402"/>
            <a:ext cx="4608576" cy="2534717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Anote o seu e-mail e a sua senha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à mão na cartilha, com letra bem legível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 a cartilha junto com os seus documentos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dê a senha a ninguém, nem por telefone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Anotar em casa é seguro. O perigo é entregar a estranhos.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47688" y="2267826"/>
            <a:ext cx="4992624" cy="3053867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414130"/>
            <a:ext cx="4700016" cy="2761259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sua caixa de entrada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021" y="1316736"/>
            <a:ext cx="6675479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325" y="1463040"/>
            <a:ext cx="6382871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caixa de correio da sua casa, só que digital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e enviar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991639" y="1316736"/>
            <a:ext cx="6178242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943" y="1463040"/>
            <a:ext cx="5885634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o endereço duas vezes antes de enviar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Mande um e-mail para o professor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2331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233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Escrever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7187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718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4020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Para: o endereço que está no quadro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388766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Assunto: Meu primeiro e-mail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36900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3690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23733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seu nome e uma frase sobre o curso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5217566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2175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5608" y="508589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Enviar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93408" y="2039564"/>
            <a:ext cx="4946904" cy="3510393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185868"/>
            <a:ext cx="4654296" cy="321778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e responda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2331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233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para a Caixa de entrada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7187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718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4020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 a mensagem em negrito do professor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388766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uma vez para abrir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36900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3690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237330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Responder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5217566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2175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5608" y="5085893"/>
            <a:ext cx="510235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Obrigado! e clique em Enviar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93408" y="2164899"/>
            <a:ext cx="4946904" cy="3259722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311203"/>
            <a:ext cx="4654296" cy="296711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clipe prende um arquivo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28318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8318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5072" y="1554480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Escrever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190674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90674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5072" y="2116836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desenho do clipe de papel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753030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2753030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5072" y="2679192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 o arquivo: Área de Trabalho → Minhas Coisas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315386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315386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5072" y="3241548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nele e clique em Abrir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3877742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3877742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5072" y="3803904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Espere o nome aparecer na mensagem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7240" y="4440098"/>
            <a:ext cx="286664" cy="286664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4440098"/>
            <a:ext cx="286664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5072" y="4366260"/>
            <a:ext cx="5364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Enviar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como grampear um documento antes de fechar o envelope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39128" y="2055368"/>
            <a:ext cx="4901184" cy="3478784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201672"/>
            <a:ext cx="4608576" cy="318617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1828800" cy="182880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505456"/>
            <a:ext cx="841248" cy="841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91840" y="2011680"/>
            <a:ext cx="8366760" cy="1371600"/>
          </a:xfrm>
          <a:prstGeom prst="roundRect">
            <a:avLst>
              <a:gd name="adj" fmla="val 9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566160" y="201168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você quer mandar o primeiro e-mail de casa?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291840" y="365760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sabe: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383280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a conta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33822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525262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e enviar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75804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67244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e responder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717786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809226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Prender um arquivo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A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23160"/>
            <a:ext cx="384048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para o café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0" y="2743200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669280" y="2743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97880" y="374904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criar seu endereço na internet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Levante e descanse os olhos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Comemore: isso não é pouca coisa</a:t>
            </a:r>
            <a:endParaRPr lang="en-US" sz="1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  ·  6h15 – 7h00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 que faz conta sozinha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Planilhas simples para o dia a dia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uma planilha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65376" y="1316736"/>
            <a:ext cx="8430768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463040"/>
            <a:ext cx="813816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caderno quadriculado que faz a conta no seu lugar</a:t>
            </a:r>
            <a:endParaRPr lang="en-US" sz="1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Linhas, colunas e quadradinhos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Letras em cima (A, B, C): são as colunas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na lateral (1, 2, 3): são as linhas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quadradinho tem um nome: A1, B7...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como a poltrona do cinema: fileira e número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647688" y="2578155"/>
            <a:ext cx="4992624" cy="2433209"/>
          </a:xfrm>
          <a:prstGeom prst="roundRect">
            <a:avLst>
              <a:gd name="adj" fmla="val 4510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724459"/>
            <a:ext cx="4700016" cy="2140601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abrir a planilha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83639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836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554480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Iniciar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527173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271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398014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Digite: excel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370707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3707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41548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 Enter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14241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2142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085082"/>
            <a:ext cx="5193792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Pasta de trabalho em branco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98348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983480"/>
            <a:ext cx="5815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desce uma linha · Tab anda para o lado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39128" y="2323490"/>
            <a:ext cx="4901184" cy="2942539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469794"/>
            <a:ext cx="4608576" cy="2649931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lista de compras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37944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1691640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coluna A escreva: PRODUTO, Arroz, Feijão, Óleo, Café, Leite, TOTAL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5608" y="2569464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coluna B escreva os preços: 25, 9, 8, 18, 6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593592"/>
            <a:ext cx="457200" cy="45720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447288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só o número, sem R$ e sem vírgula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93408" y="2509639"/>
            <a:ext cx="4946904" cy="257024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655943"/>
            <a:ext cx="4654296" cy="227763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soma automática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76918" y="1316736"/>
            <a:ext cx="8607685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222" y="1463040"/>
            <a:ext cx="8315077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TOTAL · clique no Σ · aperte Enter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mágica do recálculo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07449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07449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8018" y="1691640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preço do Arroz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16693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16693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28018" y="2500884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30 e aperte Enter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425937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425937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8018" y="3310128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Olhe o TOTAL: mudou sozinho!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235181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235181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8018" y="4119372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mude o preço do Café e veja de novo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por isso que a planilha é melhor que o caderno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93408" y="2588567"/>
            <a:ext cx="4946904" cy="2412386"/>
          </a:xfrm>
          <a:prstGeom prst="roundRect">
            <a:avLst>
              <a:gd name="adj" fmla="val 4549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734871"/>
            <a:ext cx="4654296" cy="2119778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Deixando a tabela bonita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 a linha do título e clique no N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alargar a coluna: arraste a linha entre A e B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colorir o fundo: clique no baldinho de tinta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Lembra do Word? Pintar primeiro, enfeitar depois.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47688" y="2578155"/>
            <a:ext cx="4992624" cy="2433209"/>
          </a:xfrm>
          <a:prstGeom prst="roundRect">
            <a:avLst>
              <a:gd name="adj" fmla="val 4510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724459"/>
            <a:ext cx="4700016" cy="2140601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926080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732520" y="365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Salvando a sua planilha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732520" y="102412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732520" y="1024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07449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807449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8018" y="1691640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→ Salvar como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616693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616693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28018" y="2500884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Trabalho → Minhas Coisas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425937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3425937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8018" y="3310128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 Lista de compras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235181"/>
            <a:ext cx="449610" cy="449610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235181"/>
            <a:ext cx="449610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8018" y="4119372"/>
            <a:ext cx="5109942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Salvar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6126480" cy="82296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0292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guardar → qual nome → Salvar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93408" y="2252167"/>
            <a:ext cx="4946904" cy="3085186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398471"/>
            <a:ext cx="4654296" cy="2792578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 no seu dia a dia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F5F9FC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21308" y="205740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85" y="2328977"/>
            <a:ext cx="462686" cy="462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do mês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95528" y="37947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luz, água, telefone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55848" y="173736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F5F9FC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110228" y="205740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805" y="2328977"/>
            <a:ext cx="462686" cy="462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compras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584448" y="37947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total antes de ir ao mercado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44768" y="173736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F5F9FC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899148" y="205740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725" y="2328977"/>
            <a:ext cx="462686" cy="462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Remédios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373368" y="37947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nome, horário e quantidade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933688" y="1737360"/>
            <a:ext cx="2514600" cy="3291840"/>
          </a:xfrm>
          <a:prstGeom prst="roundRect">
            <a:avLst>
              <a:gd name="adj" fmla="val 5091"/>
            </a:avLst>
          </a:prstGeom>
          <a:solidFill>
            <a:srgbClr val="F5F9FC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9688068" y="205740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9645" y="2328977"/>
            <a:ext cx="462686" cy="4626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568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Telefones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9162288" y="37947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 família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  ·  7h00 – 7h45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não cair em golpes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Proteja o seu dinheiro e os seus dados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senha é a chave da sua casa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471409" y="1316736"/>
            <a:ext cx="7218702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13" y="1463040"/>
            <a:ext cx="6926094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nenhum pede senha por telefone ou mensagem. Nunca.</a:t>
            </a:r>
            <a:endParaRPr lang="en-US" sz="1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de uma senha forte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Senha ruim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quê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Senha boa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123456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mundo tenta essa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Jardim1958flor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Sua data de nascimento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 no seu documento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CachorroBob10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nome do filho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Qualquer um sabe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Fusca1972azul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2578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768096" y="5257800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senhas diferentes para coisas diferentes</a:t>
            </a:r>
            <a:endParaRPr lang="en-US" sz="1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guardar as suas senhas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53492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5349240" cy="685800"/>
          </a:xfrm>
          <a:prstGeom prst="roundRect">
            <a:avLst>
              <a:gd name="adj" fmla="val 18667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5349240" cy="2286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Pode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23774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Anotar num caderninho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junto dos documentos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só para quem você confia muito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49240" cy="685800"/>
          </a:xfrm>
          <a:prstGeom prst="roundRect">
            <a:avLst>
              <a:gd name="adj" fmla="val 18667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349240" cy="2286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63640" y="15087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Não pode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papelzinho no monitor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 por mensagem ou e-mail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Falar por telefone</a:t>
            </a:r>
            <a:endParaRPr lang="en-US" sz="18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golpes mais comuns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golpe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ele chega até você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"Você ganhou um prêmio"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Mensagem ou anúncio piscando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"Mãe, mudei de número"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de número desconhecido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"Sua conta será bloqueada"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E-mail parecido com o do banco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"Recadastre seu benefício"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SMS com link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 muito barato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de loja falsa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prêmio que ninguém disputou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21736" y="1316736"/>
            <a:ext cx="5718048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040" y="1463040"/>
            <a:ext cx="542544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Olhe os sinais: pressa, prêmio, endereço estranho, erro de português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"Mãe, mudei de número"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21736" y="1316736"/>
            <a:ext cx="5718048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040" y="1463040"/>
            <a:ext cx="542544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para o número antigo antes de fazer qualquer coisa</a:t>
            </a:r>
            <a:endParaRPr lang="en-US" sz="1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e-mail que parece do banco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471409" y="1316736"/>
            <a:ext cx="7218702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13" y="1463040"/>
            <a:ext cx="6926094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sempre o endereço de quem enviou</a:t>
            </a:r>
            <a:endParaRPr lang="en-US" sz="1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5 sinais de um golpe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FDEAE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64208"/>
            <a:ext cx="384048" cy="384048"/>
          </a:xfrm>
          <a:prstGeom prst="ellipse">
            <a:avLst/>
          </a:prstGeom>
          <a:solidFill>
            <a:srgbClr val="FDEAE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" y="1767901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554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pressa: "só hoje", "em 24 horas"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" y="2304288"/>
            <a:ext cx="384048" cy="384048"/>
          </a:xfrm>
          <a:prstGeom prst="ellipse">
            <a:avLst/>
          </a:prstGeom>
          <a:solidFill>
            <a:srgbClr val="FDEAE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" y="2407981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2728" y="2194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Promete dinheiro fácil ou prêmio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85800" y="2944368"/>
            <a:ext cx="384048" cy="384048"/>
          </a:xfrm>
          <a:prstGeom prst="ellipse">
            <a:avLst/>
          </a:prstGeom>
          <a:solidFill>
            <a:srgbClr val="FDEAE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" y="3048061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52728" y="2834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senha, código ou número do cartão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85800" y="3584448"/>
            <a:ext cx="384048" cy="384048"/>
          </a:xfrm>
          <a:prstGeom prst="ellipse">
            <a:avLst/>
          </a:prstGeom>
          <a:solidFill>
            <a:srgbClr val="FDEAE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" y="3688141"/>
            <a:ext cx="176662" cy="176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52728" y="34747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de quem você não conhece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85800" y="4224528"/>
            <a:ext cx="384048" cy="384048"/>
          </a:xfrm>
          <a:prstGeom prst="ellipse">
            <a:avLst/>
          </a:prstGeom>
          <a:solidFill>
            <a:srgbClr val="FDEAE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" y="4328221"/>
            <a:ext cx="176662" cy="1766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52728" y="4114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erros de português ou endereço estranho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566928" y="50749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5"/>
          <p:cNvSpPr/>
          <p:nvPr/>
        </p:nvSpPr>
        <p:spPr>
          <a:xfrm>
            <a:off x="768096" y="507492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sinal já é suspeito. Dois é golpe na certa.</a:t>
            </a:r>
            <a:endParaRPr lang="en-US" sz="1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6 regras de ouro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70992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1813621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clique em link que você não esperava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" y="244144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2545141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2728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informe senha, código ou cartão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85800" y="317296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3276661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52728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Desconfie sempre da pressa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355080" y="170992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1813621"/>
            <a:ext cx="176662" cy="176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22008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para confirmar, no número que você já tem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355080" y="244144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2545141"/>
            <a:ext cx="176662" cy="1766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22008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é bom demais, é mentira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6355080" y="317296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73" y="3276661"/>
            <a:ext cx="176662" cy="17666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22008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dúvida, não faça nada e pergunte</a:t>
            </a:r>
            <a:endParaRPr lang="en-US" sz="1800" dirty="0"/>
          </a:p>
        </p:txBody>
      </p:sp>
      <p:sp>
        <p:nvSpPr>
          <p:cNvPr id="25" name="Shape 16"/>
          <p:cNvSpPr/>
          <p:nvPr/>
        </p:nvSpPr>
        <p:spPr>
          <a:xfrm>
            <a:off x="566928" y="50749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7"/>
          <p:cNvSpPr/>
          <p:nvPr/>
        </p:nvSpPr>
        <p:spPr>
          <a:xfrm>
            <a:off x="768096" y="507492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Repita comigo: na dúvida, não faço nada e pergunto.</a:t>
            </a:r>
            <a:endParaRPr lang="en-US" sz="1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Cadeado e endereço certo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96126" y="1316736"/>
            <a:ext cx="7369269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30" y="1463040"/>
            <a:ext cx="7076661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cadeado sozinho não garante nada: o endereço tem que estar certo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você cair em um golpe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47438"/>
            <a:ext cx="360895" cy="360895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47438"/>
            <a:ext cx="360895" cy="36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9303" y="1554480"/>
            <a:ext cx="8033297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tenha vergonha: acontece com muita gente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322265"/>
            <a:ext cx="360895" cy="360895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322265"/>
            <a:ext cx="360895" cy="36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9303" y="2229307"/>
            <a:ext cx="8033297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agora para o banco e bloqueie o cartão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997092"/>
            <a:ext cx="360895" cy="360895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2997092"/>
            <a:ext cx="360895" cy="36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9303" y="2904134"/>
            <a:ext cx="8033297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Troque as suas senhas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671920"/>
            <a:ext cx="360895" cy="360895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671920"/>
            <a:ext cx="360895" cy="36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9303" y="3578962"/>
            <a:ext cx="8033297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Avise a família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346747"/>
            <a:ext cx="360895" cy="360895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346747"/>
            <a:ext cx="360895" cy="36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9303" y="4253789"/>
            <a:ext cx="8033297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um boletim de ocorrência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4983480"/>
            <a:ext cx="89611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4983480"/>
            <a:ext cx="8558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cai não é bobo. O golpista é bom no que faz.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46920" y="2194560"/>
            <a:ext cx="1828800" cy="182880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696" y="2688336"/>
            <a:ext cx="841248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1828800" cy="182880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505456"/>
            <a:ext cx="841248" cy="841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91840" y="2011680"/>
            <a:ext cx="8366760" cy="1371600"/>
          </a:xfrm>
          <a:prstGeom prst="roundRect">
            <a:avLst>
              <a:gd name="adj" fmla="val 9333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566160" y="201168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recebeu uma mensagem assim? Conte para a turma.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291840" y="365760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sabe: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383280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 forte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33822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525262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guardar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75804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67244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5 sinais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717786" y="4114800"/>
            <a:ext cx="1940814" cy="914400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270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809226" y="4114800"/>
            <a:ext cx="17579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6 regras de ouro</a:t>
            </a:r>
            <a:endParaRPr lang="en-US" sz="15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737360" cy="173736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26487"/>
            <a:ext cx="799186" cy="799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2057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9  ·  7h45 – 8h00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final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10896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você sozinho. Eu só fico olhando.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Dia a Dia Digital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55521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55521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0686" y="1554480"/>
            <a:ext cx="80933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o computador e abra a internet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377897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377897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0686" y="2276856"/>
            <a:ext cx="80933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Pesquise o preço de algo que você quer comprar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100273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100273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0686" y="2999232"/>
            <a:ext cx="80933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o editor de texto e escreva o produto e o preço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3822649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822649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0686" y="3721608"/>
            <a:ext cx="80933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o arquivo dentro de Minhas Coisas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" y="4545025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545025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0686" y="4443984"/>
            <a:ext cx="80933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Mande um e-mail para o professor com o arquivo preso pelo clipe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77240" y="5267401"/>
            <a:ext cx="392278" cy="392278"/>
          </a:xfrm>
          <a:prstGeom prst="ellipse">
            <a:avLst/>
          </a:prstGeom>
          <a:solidFill>
            <a:srgbClr val="1249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5267401"/>
            <a:ext cx="39227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0686" y="5166360"/>
            <a:ext cx="80933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Desligue o computador do jeito certo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646920" y="2651760"/>
            <a:ext cx="1828800" cy="182880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696" y="3145536"/>
            <a:ext cx="841248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Ficou em dúvida? Consulte a cartilha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você esqueceu…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pesquisar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salvar na pasta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enviar e-mail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prender o arquivo (clipe)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desligar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2578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768096" y="5257800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casa não vai ter professor. Vai ter esta cartilha — e ela basta.</a:t>
            </a:r>
            <a:endParaRPr lang="en-US" sz="17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você mesmo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384048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04" y="618592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6420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1767901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554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Liguei o computador sozinho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" y="230428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2407981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2728" y="2194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Pesquisei e achei o preço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85800" y="294436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3048061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52728" y="2834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Escrevi e salvei na minha pasta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85800" y="358444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3688141"/>
            <a:ext cx="176662" cy="176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52728" y="34747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Mandei o e-mail com o arquivo preso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85800" y="4224528"/>
            <a:ext cx="384048" cy="384048"/>
          </a:xfrm>
          <a:prstGeom prst="ellipse">
            <a:avLst/>
          </a:prstGeom>
          <a:solidFill>
            <a:srgbClr val="E4F3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" y="4328221"/>
            <a:ext cx="176662" cy="1766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52728" y="4114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Desliguei do jeito certo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566928" y="50749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5"/>
          <p:cNvSpPr/>
          <p:nvPr/>
        </p:nvSpPr>
        <p:spPr>
          <a:xfrm>
            <a:off x="768096" y="507492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Marcou tudo? Então você está formado no básico!</a:t>
            </a:r>
            <a:endParaRPr lang="en-US" sz="1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foi avaliado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595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teve prova escrita. Nem vai ter.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avaliação foi o que você fez com as próprias mãos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e-mail que chegou na minha caixa é o seu comprovante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89611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8558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provou que sabe fazendo, não escrevendo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2103120"/>
            <a:ext cx="1920240" cy="1920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5" y="2621585"/>
            <a:ext cx="883310" cy="88331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Parabéns, você conseguiu!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96126" y="1316736"/>
            <a:ext cx="7369269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30" y="1463040"/>
            <a:ext cx="7076661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Ligar · digitar · guardar · pesquisar · ter e-mail · somar · se proteger</a:t>
            </a:r>
            <a:endParaRPr lang="en-US" sz="1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praticando em casa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12758" y="1316736"/>
            <a:ext cx="6936004" cy="436168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9050">
            <a:solidFill>
              <a:srgbClr val="C9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62" y="1463040"/>
            <a:ext cx="6643396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dia 6 é o mais importante: ensinar alguém é a melhor forma de aprender</a:t>
            </a:r>
            <a:endParaRPr lang="en-US" sz="18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27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pedir ajuda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595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do professor: escreva no quadro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 da instituição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aberto para prática livre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turmas: celular, WhatsApp e banco pela internet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8961120" cy="868680"/>
          </a:xfrm>
          <a:prstGeom prst="roundRect">
            <a:avLst>
              <a:gd name="adj" fmla="val 12632"/>
            </a:avLst>
          </a:prstGeom>
          <a:solidFill>
            <a:srgbClr val="EAF3F8"/>
          </a:solidFill>
          <a:ln w="19050">
            <a:solidFill>
              <a:srgbClr val="8FC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5029200"/>
            <a:ext cx="8558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Ficou com dúvida em casa? Mande um e-mail. Agora você sabe!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2103120"/>
            <a:ext cx="1920240" cy="1920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5" y="2621585"/>
            <a:ext cx="883310" cy="88331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2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424160" y="5120640"/>
            <a:ext cx="3108960" cy="310896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pela confiança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provou que nunca é tarde para aprender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instrutor  ·  Instituição  · 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1371600"/>
            <a:ext cx="429768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543800" y="16002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5F9FC"/>
          </a:solidFill>
          <a:ln w="25400">
            <a:solidFill>
              <a:srgbClr val="8FCBE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635240" y="16002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6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a foto da turma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881360" y="6327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9116</Words>
  <Application>Microsoft Office PowerPoint</Application>
  <PresentationFormat>Widescreen</PresentationFormat>
  <Paragraphs>1307</Paragraphs>
  <Slides>121</Slides>
  <Notes>121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121</vt:i4>
      </vt:variant>
    </vt:vector>
  </HeadingPairs>
  <TitlesOfParts>
    <vt:vector size="12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Informática Básica para Adultos Iniciantes</dc:title>
  <dc:subject>PptxGenJS Presentation</dc:subject>
  <dc:creator>Instrutor</dc:creator>
  <cp:lastModifiedBy>Leanderson Dias de Lima</cp:lastModifiedBy>
  <cp:revision>1</cp:revision>
  <dcterms:created xsi:type="dcterms:W3CDTF">2026-08-14T23:50:17Z</dcterms:created>
  <dcterms:modified xsi:type="dcterms:W3CDTF">2026-08-14T23:55:32Z</dcterms:modified>
</cp:coreProperties>
</file>