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Receba a turma na porta, apresente-se de forma humanizada e diga por que está feliz de estar ali. 8 horas, 100% ferramentas gratuitas.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CHA: conhecimentos, habilidades e atitudes. Diga o porquê de cada bloco antes de mostrar qualquer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este cronograma na lousa com caixas de marcação. A previsibilidade reduz a ansiedade de transição, especialmente para alunos com TEA.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costuma ser apresentada com jargão em inglês e promessas distantes. Aqui ela é ferramenta de cidadania. O aluno é protagonista desde o primeiro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Metáfora central: um ajudante muito rápido que aprendeu lendo milhões de exemplos, mas só age se a gente souber pedir. Não é robô de filme.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estes sete links salvos nos Favoritos de todas as máquinas antes da aula. Nenhum exige cartão de crédito.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o bloco prático. A partir daqui todos estão com a mão na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 com Ctrl + para ampliar. Compare com mandar mensagem no WhatsApp. Mostre o ícone do microfone: essencial para quem tem dificuldade de digitar.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a fórmula na lousa. Entregue o cartão com 4 caixas para os alunos com TEA: a sequência reduz a sobrecarga de escolhas.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dois pedidos ao vivo, um depois do outro. O contraste é o que ensina. Incentive bolos afetivos: fubá, milho de lata, bolo de caneca.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com Carolina Maria de Jesus. Reforce com clareza: é simulação matemática a partir dos textos que a pessoa deixou, não há ninguém do outro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Aqueça a sala no retorno do almoço. Ensine a salvar com o botão direito. A ferramenta leva 20 a 30 segundos para exibir as 4 opções: avise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Gere ao vivo: 'Guia prático: como começar a empreender com pouco dinheiro'. Mostre que basta clicar em qualquer texto para editar.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Quebre o tabu do dinheiro. Alerta rigoroso: nunca digitar senha, conta ou CPF. Simulações usam valores gerais.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central: o NotebookLM só responde com base nos arquivos que você enviou e cita a página. É o antídoto contra alucinação.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máquina não tem coração nem ética; quem tem é você. Fale de deepfake e de viés: a IA aprendeu com uma internet desigual.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DUA: múltiplas formas de representação, de expressão e de engajamento. Todos chegam ao mesmo objetivo por caminhos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Feira de Conquistas: showcase relâmpago de 15 minutos, exibição voluntária. Entregue o Guia de Bolso impresso e puxe a salva de palmas.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de roda ética. Feche com o compromisso multiplicador: ensinar uma pessoa da família ou do bairro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Envie esta tabela e o PDF do Guia de Bolso no grupo de WhatsApp da turma no fim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EDUCAFRO · INFORMÁTICA BÁSICA &amp; INCLUSÃO DIGITAL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3154410"/>
            <a:ext cx="18021300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B4BFC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Aula 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52500" y="3980067"/>
            <a:ext cx="14716125" cy="1903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52"/>
              </a:lnSpc>
              <a:buNone/>
            </a:pPr>
            <a:r>
              <a:rPr lang="en-US" sz="7200" b="1" spc="-180" kern="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Inteligência Artificial prática, inclusiva e cotidiana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52500" y="6188264"/>
            <a:ext cx="1714500" cy="47625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6578694"/>
            <a:ext cx="11772900" cy="782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CFD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 curiosidade à criação: 8 horas de oficina presencial com ferramentas 100% gratuitas.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9213159"/>
            <a:ext cx="3847974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EB9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Instrutor: [nome do professor]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03159" y="9213159"/>
            <a:ext cx="2576324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EB9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Data: [dd/mm/aaaa]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697771" y="9213159"/>
            <a:ext cx="2104318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EB9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09h00 às 17h00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você vai levar desta aula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5616009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Saber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3605983"/>
            <a:ext cx="5616009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Conhecimentos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8611" y="4146361"/>
            <a:ext cx="5132232" cy="87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é </a:t>
            </a:r>
            <a:pPr algn="l" indent="0" marL="0">
              <a:lnSpc>
                <a:spcPct val="113113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 generativa </a:t>
            </a:r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dia a dia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68611" y="5254782"/>
            <a:ext cx="5132232" cy="87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Diferença entre buscar no Google e gerar com IA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68611" y="6363203"/>
            <a:ext cx="5132232" cy="87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Limites: </a:t>
            </a:r>
            <a:pPr algn="l" indent="0" marL="0">
              <a:lnSpc>
                <a:spcPct val="113113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alucinação </a:t>
            </a:r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privacidade e segurança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591269" y="2894594"/>
            <a:ext cx="5616009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Saber fazer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591269" y="3605983"/>
            <a:ext cx="5616009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Habilidades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07379" y="4146361"/>
            <a:ext cx="5132232" cy="87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Escrever pedidos com o método </a:t>
            </a:r>
            <a:pPr algn="l" indent="0" marL="0">
              <a:lnSpc>
                <a:spcPct val="113113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PAPO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707379" y="5254782"/>
            <a:ext cx="5132232" cy="87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Criar imagens, slides e diálogos com personas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707379" y="6363203"/>
            <a:ext cx="5132232" cy="879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Organizar finanças e estudar com fontes reais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230037" y="2894594"/>
            <a:ext cx="5616009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Saber ser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230037" y="3605983"/>
            <a:ext cx="5616009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Atitudes e cidadania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46148" y="4146361"/>
            <a:ext cx="5065552" cy="30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Perder o medo de errar ou "quebrar a máquina"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Colaboração entre gerações na sala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Olhar crítico contra fake news e desinformação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dia em oito módulos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85915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MANHÃ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3358584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539968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09:00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3124074" y="3539968"/>
            <a:ext cx="530203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Abertura: onde a IA já mora no meu dia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52500" y="4033193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4214577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09:30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3124074" y="4214577"/>
            <a:ext cx="5886591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assistente pessoal: ChatGPT e Gemini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52500" y="4707802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889186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10:15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3124074" y="4889186"/>
            <a:ext cx="3073054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Pausa sensorial e café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52500" y="5382411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563795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10:30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3124074" y="5563795"/>
            <a:ext cx="5431356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método PAPO e o Chef de Cozinha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952500" y="6057020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238404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11:15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3124074" y="6238404"/>
            <a:ext cx="4373578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Personagens e diálogos vivos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952500" y="7406238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" y="6731629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913012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12:00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3124074" y="6913012"/>
            <a:ext cx="3494748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Almoço e descompressão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525000" y="2818363"/>
            <a:ext cx="85915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TARDE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525000" y="3358584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0" y="3539968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13:00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1696574" y="3539968"/>
            <a:ext cx="5470604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estúdio de arte: Bing Image Creator</a:t>
            </a:r>
            <a:endParaRPr lang="en-US" sz="2175" dirty="0"/>
          </a:p>
        </p:txBody>
      </p:sp>
      <p:sp>
        <p:nvSpPr>
          <p:cNvPr id="29" name="Shape 27"/>
          <p:cNvSpPr/>
          <p:nvPr/>
        </p:nvSpPr>
        <p:spPr>
          <a:xfrm>
            <a:off x="9525000" y="4033193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0" y="4214577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13:45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1696574" y="4214577"/>
            <a:ext cx="4777982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Slides em 1 minuto: Gamma App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9525000" y="4707802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0" y="4889186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14:30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11696574" y="4889186"/>
            <a:ext cx="4794753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Finanças e investimentos com IA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9525000" y="5382411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0" y="5563795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15:15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11696574" y="5563795"/>
            <a:ext cx="2955312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Pausa e alongamento</a:t>
            </a:r>
            <a:endParaRPr lang="en-US" sz="2175" dirty="0"/>
          </a:p>
        </p:txBody>
      </p:sp>
      <p:sp>
        <p:nvSpPr>
          <p:cNvPr id="38" name="Shape 36"/>
          <p:cNvSpPr/>
          <p:nvPr/>
        </p:nvSpPr>
        <p:spPr>
          <a:xfrm>
            <a:off x="9525000" y="6057020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0" y="6238404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15:30</a:t>
            </a:r>
            <a:endParaRPr lang="en-US" sz="2175" dirty="0"/>
          </a:p>
        </p:txBody>
      </p:sp>
      <p:sp>
        <p:nvSpPr>
          <p:cNvPr id="40" name="Text 38"/>
          <p:cNvSpPr/>
          <p:nvPr/>
        </p:nvSpPr>
        <p:spPr>
          <a:xfrm>
            <a:off x="11696574" y="6238404"/>
            <a:ext cx="6089572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Estudos com fontes: NotebookLM e WeLib</a:t>
            </a:r>
            <a:endParaRPr lang="en-US" sz="2175" dirty="0"/>
          </a:p>
        </p:txBody>
      </p:sp>
      <p:sp>
        <p:nvSpPr>
          <p:cNvPr id="41" name="Shape 39"/>
          <p:cNvSpPr/>
          <p:nvPr/>
        </p:nvSpPr>
        <p:spPr>
          <a:xfrm>
            <a:off x="9525000" y="7406238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42" name="Shape 40"/>
          <p:cNvSpPr/>
          <p:nvPr/>
        </p:nvSpPr>
        <p:spPr>
          <a:xfrm>
            <a:off x="9525000" y="6731629"/>
            <a:ext cx="78105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43" name="Text 41"/>
          <p:cNvSpPr/>
          <p:nvPr/>
        </p:nvSpPr>
        <p:spPr>
          <a:xfrm>
            <a:off x="9525000" y="6913012"/>
            <a:ext cx="20955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16:30</a:t>
            </a:r>
            <a:endParaRPr lang="en-US" sz="2175" dirty="0"/>
          </a:p>
        </p:txBody>
      </p:sp>
      <p:sp>
        <p:nvSpPr>
          <p:cNvPr id="44" name="Text 42"/>
          <p:cNvSpPr/>
          <p:nvPr/>
        </p:nvSpPr>
        <p:spPr>
          <a:xfrm>
            <a:off x="11696574" y="6913012"/>
            <a:ext cx="4727842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8. </a:t>
            </a:r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Feira de Conquistas e roda ética</a:t>
            </a:r>
            <a:endParaRPr lang="en-US" sz="2175" dirty="0"/>
          </a:p>
        </p:txBody>
      </p:sp>
      <p:sp>
        <p:nvSpPr>
          <p:cNvPr id="45" name="Text 43"/>
          <p:cNvSpPr/>
          <p:nvPr/>
        </p:nvSpPr>
        <p:spPr>
          <a:xfrm>
            <a:off x="952500" y="9213159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75% prática · 25% conversa · nenhuma fala contínua acima de 20 minutos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INTRODUÇÃO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46685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IA chega até nós cheia de barreiras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7995761" cy="178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Jargão técnico em inglês, custo alto e a sensação de que "isso não é para mim" mantêm a maior parte da população fora da tecnologia que mais muda o trabalho hoje.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4909619"/>
            <a:ext cx="7995761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Esta oficina rompe a barreira pela prática: </a:t>
            </a:r>
            <a:pPr algn="l" indent="0" marL="0">
              <a:lnSpc>
                <a:spcPct val="117464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nenhum pré-requisito de programação </a:t>
            </a:r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</a:t>
            </a:r>
            <a:pPr algn="l" indent="0" marL="0">
              <a:lnSpc>
                <a:spcPct val="117464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R$ 0,00 de custo </a:t>
            </a:r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 ferramentas.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72625" y="2894594"/>
            <a:ext cx="8539163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IA AQUI SERVE PARA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72625" y="3511204"/>
            <a:ext cx="7995761" cy="1609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496"/>
              </a:lnSpc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Produtividade · Organização financeira · Estudo · Renda extra · Cidadania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72625" y="5387126"/>
            <a:ext cx="7995761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 tradição da EDUCAFRO, o conhecimento só tem sentido quando liberta e transforma vidas.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CONCEITO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é inteligência artificial generativa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14716125" cy="1671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3300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"Não é um robô de ficção que quer dominar o mundo. É um ajudante muito rápido que aprendeu lendo milhões de exemplos — e só faz algo se a gente souber pedir."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5061767"/>
            <a:ext cx="5156231" cy="2584010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7" name="Text 5"/>
          <p:cNvSpPr/>
          <p:nvPr/>
        </p:nvSpPr>
        <p:spPr>
          <a:xfrm>
            <a:off x="1371537" y="5480804"/>
            <a:ext cx="4447702" cy="56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BUSCAR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537" y="6174432"/>
            <a:ext cx="4447702" cy="1090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Google devolve </a:t>
            </a:r>
            <a:pPr algn="l" indent="0" marL="0">
              <a:lnSpc>
                <a:spcPct val="113113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links </a:t>
            </a:r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já existem.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565806" y="5061767"/>
            <a:ext cx="5156231" cy="2584010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Text 8"/>
          <p:cNvSpPr/>
          <p:nvPr/>
        </p:nvSpPr>
        <p:spPr>
          <a:xfrm>
            <a:off x="6984843" y="5480804"/>
            <a:ext cx="4447702" cy="560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GERAR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4843" y="6174432"/>
            <a:ext cx="4447702" cy="1090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IA </a:t>
            </a:r>
            <a:pPr algn="l" indent="0" marL="0">
              <a:lnSpc>
                <a:spcPct val="113113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cria </a:t>
            </a:r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 texto, uma imagem ou uma tabela nova.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79111" y="5061767"/>
            <a:ext cx="5156231" cy="2584010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12598148" y="5480804"/>
            <a:ext cx="4749973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PEDIR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598148" y="5963970"/>
            <a:ext cx="4447702" cy="1300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</a:t>
            </a:r>
            <a:pPr algn="l" indent="0" marL="0">
              <a:lnSpc>
                <a:spcPct val="113113"/>
              </a:lnSpc>
              <a:buNone/>
            </a:pPr>
            <a:r>
              <a:rPr lang="en-US" sz="255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</a:t>
            </a:r>
            <a:pPr algn="l" indent="0" marL="0">
              <a:lnSpc>
                <a:spcPct val="113113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 o pedido. Quanto mais claro, melhor o resultado.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FERRAMENTAS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Sete ferramentas gratuitas, sem cartão de crédito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41910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FERRAMENTA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143500" y="2818363"/>
            <a:ext cx="94297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QUE SERVE NA AULA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97000" y="2818363"/>
            <a:ext cx="35623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3282510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483069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ChatGPT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5143500" y="3483069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Textos, método PAPO, receitas e finanças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4097000" y="3483069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chatgpt.com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52500" y="3995470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196030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Gemini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5143500" y="4196030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Pesquisa atualizada, orçamentos e estudos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4097000" y="4196030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gemini.google.com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52500" y="4708431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908990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Character.AI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5143500" y="4908990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Diálogos com personas e figuras históricas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4097000" y="4908990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character.ai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52500" y="5421391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5621950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Bing Image Creator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5143500" y="5621950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Fotos, ilustrações, logotipos e cartazes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14097000" y="5621950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bing.com/create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952500" y="6134352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6334911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WeLib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5143500" y="6334911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Download gratuito de livros e apostilas em PDF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4097000" y="6334911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pt.welib.org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952500" y="6847312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7047872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NotebookLM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5143500" y="7047872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Caderno de estudos ancorado em fontes reais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4097000" y="7047872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notebook.google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952500" y="8273233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33" name="Shape 31"/>
          <p:cNvSpPr/>
          <p:nvPr/>
        </p:nvSpPr>
        <p:spPr>
          <a:xfrm>
            <a:off x="952500" y="7560272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7760832"/>
            <a:ext cx="419100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Gamma App</a:t>
            </a:r>
            <a:endParaRPr lang="en-US" sz="2175" dirty="0"/>
          </a:p>
        </p:txBody>
      </p:sp>
      <p:sp>
        <p:nvSpPr>
          <p:cNvPr id="35" name="Text 33"/>
          <p:cNvSpPr/>
          <p:nvPr/>
        </p:nvSpPr>
        <p:spPr>
          <a:xfrm>
            <a:off x="5143500" y="7760832"/>
            <a:ext cx="94297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Apresentações e cartilhas em menos de 1 minuto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14097000" y="7760832"/>
            <a:ext cx="3562350" cy="360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gamma.app</a:t>
            </a:r>
            <a:endParaRPr lang="en-US" sz="21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230766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36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PARTE PRÁTICA · MÓDULOS 1 A 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847376"/>
            <a:ext cx="15716250" cy="970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52"/>
              </a:lnSpc>
              <a:buNone/>
            </a:pPr>
            <a:r>
              <a:rPr lang="en-US" sz="7200" b="1" spc="-180" kern="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primeiro papo à criação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52500" y="6199109"/>
            <a:ext cx="1714500" cy="47625"/>
          </a:xfrm>
          <a:prstGeom prst="rect">
            <a:avLst/>
          </a:prstGeom>
          <a:solidFill>
            <a:srgbClr val="D4642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1 · 09H30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Primeiro contato com o assistente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8427855" cy="91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 como mandar mensagem no WhatsApp para um amigo prestativo. Três pedidos para experimentar agora: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68611" y="4111625"/>
            <a:ext cx="8142473" cy="2675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receita com o que você tem em casa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dúvida prática de saúde, plantas, consertos ou direitos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mensagem de agradecimento para alguém especial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7092196"/>
            <a:ext cx="9000622" cy="4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Dupla solidária: um colega dita, o outro digita ou aciona o microfone.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96883" y="2894594"/>
            <a:ext cx="7438616" cy="6630406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9" name="Text 7"/>
          <p:cNvSpPr/>
          <p:nvPr/>
        </p:nvSpPr>
        <p:spPr>
          <a:xfrm>
            <a:off x="10353958" y="3351668"/>
            <a:ext cx="7176915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DEMONSTRAÇÃO NO TELÃO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353958" y="3911066"/>
            <a:ext cx="6720202" cy="91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"Sugira 3 opções de jantar econômico usando só arroz cozido, ovos e tomate."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353958" y="5032846"/>
            <a:ext cx="6720202" cy="91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"Explique como funciona a energia solar como se eu fosse uma criança de 7 anos."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353958" y="6154627"/>
            <a:ext cx="6720202" cy="91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"Escreva uma mensagem educada avisando que vou me atrasar 15 minutos."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2 · 10H30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fórmula PAPO: o segredo do pedido certo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894594"/>
            <a:ext cx="3810000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239600"/>
            <a:ext cx="4191000" cy="861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63"/>
              </a:lnSpc>
              <a:buNone/>
            </a:pPr>
            <a:r>
              <a:rPr lang="en-US" sz="72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52500" y="4253085"/>
            <a:ext cx="4191000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Papel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2500" y="4926437"/>
            <a:ext cx="3924300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Quem a IA deve fingir que é? </a:t>
            </a:r>
            <a:pPr algn="l" indent="0" marL="0">
              <a:lnSpc>
                <a:spcPct val="115458"/>
              </a:lnSpc>
              <a:buNone/>
            </a:pPr>
            <a:r>
              <a:rPr lang="en-US" sz="210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"Aja como um chef confeiteiro paciente."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43500" y="2894594"/>
            <a:ext cx="3810000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0" name="Text 8"/>
          <p:cNvSpPr/>
          <p:nvPr/>
        </p:nvSpPr>
        <p:spPr>
          <a:xfrm>
            <a:off x="5143500" y="3239600"/>
            <a:ext cx="4191000" cy="861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63"/>
              </a:lnSpc>
              <a:buNone/>
            </a:pPr>
            <a:r>
              <a:rPr lang="en-US" sz="72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143500" y="4253085"/>
            <a:ext cx="4191000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Ação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143500" y="4926437"/>
            <a:ext cx="3924300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ela deve fazer? </a:t>
            </a:r>
            <a:pPr algn="l" indent="0" marL="0">
              <a:lnSpc>
                <a:spcPct val="115458"/>
              </a:lnSpc>
              <a:buNone/>
            </a:pPr>
            <a:r>
              <a:rPr lang="en-US" sz="210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"Crie a receita completa de um bolo de cenoura."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34500" y="2894594"/>
            <a:ext cx="3810000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4" name="Text 12"/>
          <p:cNvSpPr/>
          <p:nvPr/>
        </p:nvSpPr>
        <p:spPr>
          <a:xfrm>
            <a:off x="9334500" y="3239600"/>
            <a:ext cx="4191000" cy="861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63"/>
              </a:lnSpc>
              <a:buNone/>
            </a:pPr>
            <a:r>
              <a:rPr lang="en-US" sz="72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334500" y="4253085"/>
            <a:ext cx="4191000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Público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334500" y="4926437"/>
            <a:ext cx="3924300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quem se destina? </a:t>
            </a:r>
            <a:pPr algn="l" indent="0" marL="0">
              <a:lnSpc>
                <a:spcPct val="115458"/>
              </a:lnSpc>
              <a:buNone/>
            </a:pPr>
            <a:r>
              <a:rPr lang="en-US" sz="210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"Para um iniciante que vai fazer o lanche da família."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525500" y="2894594"/>
            <a:ext cx="3810000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8" name="Text 16"/>
          <p:cNvSpPr/>
          <p:nvPr/>
        </p:nvSpPr>
        <p:spPr>
          <a:xfrm>
            <a:off x="13525500" y="3239600"/>
            <a:ext cx="4191000" cy="861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63"/>
              </a:lnSpc>
              <a:buNone/>
            </a:pPr>
            <a:r>
              <a:rPr lang="en-US" sz="72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525500" y="4253085"/>
            <a:ext cx="4191000" cy="52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525500" y="4926437"/>
            <a:ext cx="3924300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 formato? </a:t>
            </a:r>
            <a:pPr algn="l" indent="0" marL="0">
              <a:lnSpc>
                <a:spcPct val="115458"/>
              </a:lnSpc>
              <a:buNone/>
            </a:pPr>
            <a:r>
              <a:rPr lang="en-US" sz="210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"Medidas em xícaras, passo a passo numerado e 3 dicas de chef."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500" y="9152802"/>
            <a:ext cx="18021300" cy="410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Dica de ouro: se a resposta não ficou boa, diga "ficou difícil, explique de um jeito mais simples".</a:t>
            </a:r>
            <a:endParaRPr lang="en-US" sz="2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EXEMPLO PRÁTICO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Pedido vago e pedido estruturado, lado a lado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894594"/>
            <a:ext cx="7027281" cy="4279963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6" name="Text 4"/>
          <p:cNvSpPr/>
          <p:nvPr/>
        </p:nvSpPr>
        <p:spPr>
          <a:xfrm>
            <a:off x="1409574" y="3351668"/>
            <a:ext cx="6724446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VAGO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09574" y="3911066"/>
            <a:ext cx="6724446" cy="561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496"/>
              </a:lnSpc>
              <a:buNone/>
            </a:pPr>
            <a:r>
              <a:rPr lang="en-US" sz="330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"Me passa uma receita de bolo."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409574" y="4682339"/>
            <a:ext cx="6296527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Resultado genérico, sem medidas úteis nem contexto.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551281" y="2894594"/>
            <a:ext cx="8784062" cy="4279963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0" name="Text 8"/>
          <p:cNvSpPr/>
          <p:nvPr/>
        </p:nvSpPr>
        <p:spPr>
          <a:xfrm>
            <a:off x="9008355" y="3351668"/>
            <a:ext cx="8656905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 PAPO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008355" y="3911066"/>
            <a:ext cx="8106011" cy="222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i="1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"Aja como um renomado chef confeiteiro. Crie uma receita detalhada de bolo de chocolate fofinho com cobertura cremosa, para uma pessoa iniciante na cozinha, usando medidas em xícaras e explicando os segredos para a massa não solar."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008355" y="6344184"/>
            <a:ext cx="8656905" cy="4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BBC5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ainda: "não tenho leite, o que posso usar no lugar?"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" y="9152802"/>
            <a:ext cx="18021300" cy="410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Nível ouro: peça o custo dos ingredientes e o preço ideal por fatia para vender no bairro.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3 · 11H15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Diálogos com personas no Character.AI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8044815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persona é a IA assumindo o vocabulário e a forma de pensar de uma figura histórica, autor ou mentor.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4510701"/>
            <a:ext cx="85915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TRÊS PERGUNTAS PARA FAZER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8611" y="5127311"/>
            <a:ext cx="7770589" cy="1834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foi superar as dificuldades da sua época?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conselho você daria para o meu dia a dia?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você enxerga a tecnologia e o futuro?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2894594"/>
            <a:ext cx="7810500" cy="2214641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9" name="Text 7"/>
          <p:cNvSpPr/>
          <p:nvPr/>
        </p:nvSpPr>
        <p:spPr>
          <a:xfrm>
            <a:off x="9944037" y="3313631"/>
            <a:ext cx="7669668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SUGESTÕES DE PERSONAS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944037" y="3815973"/>
            <a:ext cx="7181598" cy="91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Carolina Maria de Jesus · Machado de Assis · Zumbi dos Palmares · Albert Einstein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0" y="5414004"/>
            <a:ext cx="7810500" cy="40238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5720815"/>
            <a:ext cx="8044815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Regra de realidade: a IA simula o jeito de falar com base em textos. Não é uma pessoa real do outro lado.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4 · 13H00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estúdio de arte: imagens a partir de palavras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18021300" cy="561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496"/>
              </a:lnSpc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Sujeito + ação + cenário + estilo artístico + luz e cores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3723081"/>
            <a:ext cx="8658553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"Uma mulher negra idosa sorridente, lendo um livro dourado em um jardim ensolarado com flores coloridas, estilo pintura a óleo clássica."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5300993"/>
            <a:ext cx="8658553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i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"Logotipo moderno para uma confeitaria artesanal chamada 'Sabor &amp; Carinho', cores suaves, desenho minimalista em vetor, fundo branco."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6878905"/>
            <a:ext cx="8658553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Crie três imagens: um presente para a família, o logotipo do seu negócio e uma arte sobre as suas raízes.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025612" y="3723081"/>
            <a:ext cx="7309888" cy="5801920"/>
          </a:xfrm>
          <a:prstGeom prst="rect">
            <a:avLst/>
          </a:prstGeom>
          <a:solidFill>
            <a:srgbClr val="E4E8ED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059" y="6024013"/>
            <a:ext cx="4120839" cy="1238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562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[inserir captura de tela do Bing Image Creator com as 4 imagens geradas]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5 · 13H45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Apresentações e cartilhas em um minuto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8044815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Gamma App, um tema em uma frase vira oito slides diagramados, com títulos, cartões e cores coordenadas.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4510701"/>
            <a:ext cx="8044815" cy="912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"Chega de passar horas alinhando caixas de texto. A IA faz a diagramação pesada para você."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5689695"/>
            <a:ext cx="8044815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IA cria só o rascunho. Todo o controle da edição continua com você.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0" y="2894594"/>
            <a:ext cx="85915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ESCOLHA UM TEMA SEU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41111" y="3473010"/>
            <a:ext cx="7770589" cy="2254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 projeto social para o seu bairro ou associação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apresentação do seu produto ou serviço para clientes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aula sobre algo que você ama fazer</a:t>
            </a:r>
            <a:endParaRPr lang="en-US" sz="2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6 · 14H30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Orçamento e investimentos com IA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894594"/>
            <a:ext cx="5156231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239600"/>
            <a:ext cx="5671854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MISSÃO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3760961"/>
            <a:ext cx="5671854" cy="54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56"/>
              </a:lnSpc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Orçamento doméstico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2500" y="4473292"/>
            <a:ext cx="5310918" cy="75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Organizar a renda na regra </a:t>
            </a:r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50-30-20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necessidades, qualidade de vida e reserva.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65806" y="2894594"/>
            <a:ext cx="5156231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0" name="Text 8"/>
          <p:cNvSpPr/>
          <p:nvPr/>
        </p:nvSpPr>
        <p:spPr>
          <a:xfrm>
            <a:off x="6565806" y="3239600"/>
            <a:ext cx="5671854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MISSÃO 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65806" y="3760961"/>
            <a:ext cx="5671854" cy="54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56"/>
              </a:lnSpc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Metas de economia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565806" y="4473292"/>
            <a:ext cx="5310918" cy="75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juntar </a:t>
            </a:r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R$ 500 em 5 meses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cortando pequenos desperdícios.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79111" y="2894594"/>
            <a:ext cx="5156231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4" name="Text 12"/>
          <p:cNvSpPr/>
          <p:nvPr/>
        </p:nvSpPr>
        <p:spPr>
          <a:xfrm>
            <a:off x="12179111" y="3239600"/>
            <a:ext cx="5671854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MISSÃO 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179111" y="3760961"/>
            <a:ext cx="5671854" cy="54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56"/>
              </a:lnSpc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Investir sem medo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179111" y="4473292"/>
            <a:ext cx="5310918" cy="75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Poupança, </a:t>
            </a:r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Tesouro Selic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</a:t>
            </a:r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CDB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explicados em linguagem simples.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9152802"/>
            <a:ext cx="18021300" cy="410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Nunca digite senha do banco, número de conta ou CPF na IA.</a:t>
            </a:r>
            <a:endParaRPr lang="en-US" sz="2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7 · 15H30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caderno de estudos com fontes confiáveis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15304770" cy="111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00"/>
              </a:lnSpc>
              <a:buNone/>
            </a:pPr>
            <a:r>
              <a:rPr lang="en-US" sz="3300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Diferente do ChatGPT, o NotebookLM só responde o que está nos documentos que </a:t>
            </a:r>
            <a:pPr algn="l" indent="0" marL="0">
              <a:lnSpc>
                <a:spcPct val="111100"/>
              </a:lnSpc>
              <a:buNone/>
            </a:pPr>
            <a:r>
              <a:rPr lang="en-US" sz="330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você </a:t>
            </a:r>
            <a:pPr algn="l" indent="0" marL="0">
              <a:lnSpc>
                <a:spcPct val="111100"/>
              </a:lnSpc>
              <a:buNone/>
            </a:pPr>
            <a:r>
              <a:rPr lang="en-US" sz="3300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enviou — e sempre cita o trecho exato.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4348021"/>
            <a:ext cx="3838606" cy="2921629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729021"/>
            <a:ext cx="3384267" cy="586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14"/>
              </a:lnSpc>
              <a:buNone/>
            </a:pPr>
            <a:r>
              <a:rPr lang="en-US" sz="48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33500" y="5448897"/>
            <a:ext cx="3168905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Busque um livro ou apostila no </a:t>
            </a:r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WeLib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 baixe o PDF.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33912" y="4348021"/>
            <a:ext cx="3838606" cy="2921629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Text 8"/>
          <p:cNvSpPr/>
          <p:nvPr/>
        </p:nvSpPr>
        <p:spPr>
          <a:xfrm>
            <a:off x="5514912" y="4729021"/>
            <a:ext cx="3384267" cy="586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14"/>
              </a:lnSpc>
              <a:buNone/>
            </a:pPr>
            <a:r>
              <a:rPr lang="en-US" sz="48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514912" y="5448897"/>
            <a:ext cx="3168905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Crie um novo caderno no </a:t>
            </a:r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NotebookLM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 sua conta Google.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15324" y="4348021"/>
            <a:ext cx="3838606" cy="2921629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324" y="4729021"/>
            <a:ext cx="3384267" cy="586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14"/>
              </a:lnSpc>
              <a:buNone/>
            </a:pPr>
            <a:r>
              <a:rPr lang="en-US" sz="48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696324" y="5448897"/>
            <a:ext cx="3168905" cy="1117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Suba o PDF e leia o resumo gerado em segundos.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496737" y="4348021"/>
            <a:ext cx="3838764" cy="2921629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13877737" y="4729021"/>
            <a:ext cx="3384440" cy="586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914"/>
              </a:lnSpc>
              <a:buNone/>
            </a:pPr>
            <a:r>
              <a:rPr lang="en-US" sz="48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877737" y="5448897"/>
            <a:ext cx="3169067" cy="1477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Pergunte: "crie um questionário de 3 perguntas sobre este livro".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ÉTICA E SEGURANÇA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Três limites que o aluno precisa levar para casa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94594"/>
            <a:ext cx="5616009" cy="54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56"/>
              </a:lnSpc>
              <a:buNone/>
            </a:pPr>
            <a:r>
              <a:rPr lang="en-US" sz="33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Alucinação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3606926"/>
            <a:ext cx="5258627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Quando não sabe, a IA inventa com tom convincente. O validador final é sempre a pessoa.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591269" y="2894594"/>
            <a:ext cx="5616009" cy="54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56"/>
              </a:lnSpc>
              <a:buNone/>
            </a:pPr>
            <a:r>
              <a:rPr lang="en-US" sz="33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Privacidade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591269" y="3606926"/>
            <a:ext cx="5258627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Senhas, CPF, dados bancários e fotos íntimas nunca entram em ferramenta aberta.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230037" y="2894594"/>
            <a:ext cx="5616009" cy="540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56"/>
              </a:lnSpc>
              <a:buNone/>
            </a:pPr>
            <a:r>
              <a:rPr lang="en-US" sz="3300" b="1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Preconceito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2230037" y="3606926"/>
            <a:ext cx="5258627" cy="178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IA aprendeu com uma internet desigual. Cobrar representatividade faz parte do uso.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" y="9001282"/>
            <a:ext cx="15716250" cy="561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496"/>
              </a:lnSpc>
              <a:buNone/>
            </a:pPr>
            <a:r>
              <a:rPr lang="en-US" sz="3300" b="1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"A máquina não tem coração nem ética. Quem tem é você."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INCLUSÃO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Caminhos flexíveis para o mesmo objetivo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48196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PÚBLICO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791074" y="2818363"/>
            <a:ext cx="12698868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ADAPTAÇÕES PRINCIPAIS NA OFICINA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282510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540125"/>
            <a:ext cx="4512945" cy="783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44"/>
              </a:lnSpc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Pessoas com TEA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5791074" y="3540125"/>
            <a:ext cx="11890758" cy="783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44"/>
              </a:lnSpc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Cronograma visual com caixas de marcação, avisos de transição em 5 e 2 minutos, canto da calma, comandos diretos sem ironia, participação oral facultativa.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52500" y="4533020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790635"/>
            <a:ext cx="4512945" cy="783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44"/>
              </a:lnSpc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Idosos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5791074" y="4790635"/>
            <a:ext cx="11890758" cy="783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44"/>
              </a:lnSpc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Ctrl + para ampliar a tela, digitação por voz para poupar as mãos, alto contraste no telão, conexão com memórias e receitas de família, nunca dizer "isso é fácil".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52500" y="7034039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5783530"/>
            <a:ext cx="16383000" cy="10059"/>
          </a:xfrm>
          <a:prstGeom prst="rect">
            <a:avLst/>
          </a:prstGeom>
          <a:solidFill>
            <a:srgbClr val="D7DBE0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6041145"/>
            <a:ext cx="4512945" cy="783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44"/>
              </a:lnSpc>
              <a:buNone/>
            </a:pPr>
            <a:r>
              <a:rPr lang="en-US" sz="2175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Baixa alfabetização digital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5791074" y="6041145"/>
            <a:ext cx="11890758" cy="783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44"/>
              </a:lnSpc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Dupla solidária (orientar apontando, nunca puxar o mouse do colega), cartões com a figura exata dos botões, e a regra de ouro: o computador não quebra, Ctrl + Z desfaz.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8805124"/>
            <a:ext cx="5336983" cy="75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Bronze: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executa o comando básico com apoio.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53074" y="8805124"/>
            <a:ext cx="5337145" cy="75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Prata: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aplica o PAPO completo e salva o material.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153806" y="8805124"/>
            <a:ext cx="5337145" cy="757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458"/>
              </a:lnSpc>
              <a:buNone/>
            </a:pPr>
            <a:r>
              <a:rPr lang="en-US" sz="2100" b="1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Ouro: </a:t>
            </a:r>
            <a:pPr algn="l" indent="0" marL="0">
              <a:lnSpc>
                <a:spcPct val="115458"/>
              </a:lnSpc>
              <a:buNone/>
            </a:pPr>
            <a:r>
              <a:rPr lang="en-US" sz="210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combina ferramentas e vira monitor da turma.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RESUMO · MÓDULO 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portfólio "Meu futuro com IA"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15716250" cy="574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00"/>
              </a:lnSpc>
              <a:buNone/>
            </a:pPr>
            <a:r>
              <a:rPr lang="en-US" sz="3300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 oito horas, cada participante sai da sala com cinco criações próprias.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3811729"/>
            <a:ext cx="3032754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118541"/>
            <a:ext cx="3123736" cy="84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63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Receita de bolo com PAPO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4290022" y="3811729"/>
            <a:ext cx="3032754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9" name="Text 7"/>
          <p:cNvSpPr/>
          <p:nvPr/>
        </p:nvSpPr>
        <p:spPr>
          <a:xfrm>
            <a:off x="4290022" y="4118541"/>
            <a:ext cx="3123736" cy="84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63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Diálogo com uma persona histórica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627544" y="3811729"/>
            <a:ext cx="3032754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1" name="Text 9"/>
          <p:cNvSpPr/>
          <p:nvPr/>
        </p:nvSpPr>
        <p:spPr>
          <a:xfrm>
            <a:off x="7627544" y="4118541"/>
            <a:ext cx="3336029" cy="442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63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Arte digital autoral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965067" y="3811729"/>
            <a:ext cx="3032754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65067" y="4118541"/>
            <a:ext cx="3123736" cy="84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63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financeiro pessoal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4302589" y="3811729"/>
            <a:ext cx="3032754" cy="40238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15" name="Text 13"/>
          <p:cNvSpPr/>
          <p:nvPr/>
        </p:nvSpPr>
        <p:spPr>
          <a:xfrm>
            <a:off x="14302589" y="4118541"/>
            <a:ext cx="3123736" cy="125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63"/>
              </a:lnSpc>
              <a:buNone/>
            </a:pPr>
            <a:r>
              <a:rPr lang="en-US" sz="2550" b="1" dirty="0">
                <a:solidFill>
                  <a:srgbClr val="0C203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Caderno de estudos no NotebookLM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52500" y="9151702"/>
            <a:ext cx="18021300" cy="4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Antes de sair: salve os arquivos no e-mail, na nuvem ou no pen drive e faça logout dos computadores compartilhados.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REFLEXÃO E ATIVIDADE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Perguntas para a roda final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1068611" y="2894594"/>
            <a:ext cx="8142473" cy="3784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 tarefa da sua rotina você vai delegar para a IA nesta semana?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você saberia que a IA inventou uma resposta?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dado você jamais colocaria em uma ferramenta aberta?</a:t>
            </a:r>
            <a:endParaRPr lang="en-US" sz="2550" dirty="0"/>
          </a:p>
          <a:p>
            <a:pPr algn="l" marL="226695" indent="-226695">
              <a:lnSpc>
                <a:spcPct val="11311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IA vai roubar o seu trabalho, ou quem usa a IA leva vantagem?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896883" y="2894594"/>
            <a:ext cx="7438616" cy="3746186"/>
          </a:xfrm>
          <a:prstGeom prst="rect">
            <a:avLst/>
          </a:prstGeom>
          <a:solidFill>
            <a:srgbClr val="0C2036"/>
          </a:solidFill>
          <a:ln/>
        </p:spPr>
      </p:sp>
      <p:sp>
        <p:nvSpPr>
          <p:cNvPr id="7" name="Text 5"/>
          <p:cNvSpPr/>
          <p:nvPr/>
        </p:nvSpPr>
        <p:spPr>
          <a:xfrm>
            <a:off x="10353958" y="3351668"/>
            <a:ext cx="7176915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COMPROMISSO MULTIPLICADOR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53958" y="3892047"/>
            <a:ext cx="6720202" cy="1349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Ensinar pelo menos </a:t>
            </a:r>
            <a:pPr algn="l" indent="0" marL="0">
              <a:lnSpc>
                <a:spcPct val="117464"/>
              </a:lnSpc>
              <a:buNone/>
            </a:pPr>
            <a:r>
              <a:rPr lang="en-US" sz="2550" b="1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pessoa </a:t>
            </a:r>
            <a:pPr algn="l" indent="0" marL="0">
              <a:lnSpc>
                <a:spcPct val="117464"/>
              </a:lnSpc>
              <a:buNone/>
            </a:pPr>
            <a:r>
              <a:rPr lang="en-US" sz="2550" dirty="0">
                <a:solidFill>
                  <a:srgbClr val="F3F5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 família ou do bairro a usar a IA para receitas ou finanças na próxima semana.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353958" y="5431922"/>
            <a:ext cx="6720202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BBC5D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Prática diária de 5 minutos: uma dúvida, uma conta, uma mensagem.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94" kern="0" dirty="0">
                <a:solidFill>
                  <a:srgbClr val="D4642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REFERÊNCIAS E MATERIAIS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454842"/>
            <a:ext cx="18021300" cy="67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0"/>
              </a:lnSpc>
              <a:buNone/>
            </a:pPr>
            <a:r>
              <a:rPr lang="en-US" sz="4800" b="1" spc="-96" kern="0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continuar em casa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61288"/>
            <a:ext cx="1143000" cy="38037"/>
          </a:xfrm>
          <a:prstGeom prst="rect">
            <a:avLst/>
          </a:prstGeom>
          <a:solidFill>
            <a:srgbClr val="D4642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18363"/>
            <a:ext cx="85915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LINKS DAS FERRAMENTAS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3358741"/>
            <a:ext cx="8044815" cy="2937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16"/>
              </a:lnSpc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chatgpt.com gemini.google.com character.ai bing.com/create pt.welib.org notebook.google gamma.app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6486431"/>
            <a:ext cx="8044815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Reservas: Microsoft Copilot, Ideogram.ai, QuillBot, Domínio Público.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0" y="2818363"/>
            <a:ext cx="8591550" cy="349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PEDAGÓGICA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0" y="3358741"/>
            <a:ext cx="8044815" cy="2108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716"/>
              </a:lnSpc>
              <a:buNone/>
            </a:pPr>
            <a:r>
              <a:rPr lang="en-US" sz="2175" dirty="0">
                <a:solidFill>
                  <a:srgbClr val="11253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Andragogia — Malcolm Knowles Desenho Universal para a Aprendizagem (DUA) Aprendizagem Baseada em Projetos (PBL) Estatuto da Pessoa Idosa Guia de Bolso EDUCAFRO: "O segredo do PAPO"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525000" y="5658102"/>
            <a:ext cx="8044815" cy="784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734"/>
              </a:lnSpc>
              <a:buNone/>
            </a:pPr>
            <a:r>
              <a:rPr lang="en-US" sz="2100" dirty="0">
                <a:solidFill>
                  <a:srgbClr val="5765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de aula completo: Aula 3 — Inteligência Artificial Prática, Inclusiva e Cotidiana, EDUCAFRO.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2026-08-28T18:56:39Z</dcterms:created>
  <dcterms:modified xsi:type="dcterms:W3CDTF">2026-08-28T18:56:39Z</dcterms:modified>
</cp:coreProperties>
</file>